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covers Chapter 4: Result and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sections, following the path from findings to meaning to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introduction sets context and motivation for the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can be shown as tables, graphs or performance measures.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two dashed frames with your actual result table and graph (delete the frame after pasting).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Analysis answers three questions: what, why, and so what.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the table with real values. Use the same data and metrics for every method, and highlight the best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Limitations show where findings should be read carefully.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chapter and lead into the next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1371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2B33D"/>
            </a:solidFill>
            <a:prstDash val="solid"/>
          </a:ln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676656"/>
            <a:ext cx="932688" cy="9326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194560" y="457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2194560" y="822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and Analysis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2194560" y="1600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Title: Research Methodology   |   Course Code: ICT-3208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423160"/>
            <a:ext cx="4937760" cy="2194560"/>
          </a:xfrm>
          <a:prstGeom prst="roundRect">
            <a:avLst>
              <a:gd name="adj" fmla="val 5000"/>
            </a:avLst>
          </a:prstGeom>
          <a:solidFill>
            <a:srgbClr val="1F4C8F"/>
          </a:solidFill>
          <a:ln w="12700">
            <a:solidFill>
              <a:srgbClr val="1F4C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560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80360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Tanjil Islam Opu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3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IT23044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Syiam Ahmed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3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IT23046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Abdur Rawf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3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IT23050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Tajul Islam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3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IT23051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Nazmul Hassan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3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IT23052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760720" y="2423160"/>
            <a:ext cx="28346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89320" y="2560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B4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989320" y="292608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B4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Mohammad Badrul Alam Miah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ICT, MBSTU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Roadmap</a:t>
            </a:r>
            <a:endParaRPr lang="en-US" sz="3200" dirty="0"/>
          </a:p>
        </p:txBody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43000" y="1874520"/>
            <a:ext cx="6858000" cy="0"/>
          </a:xfrm>
          <a:prstGeom prst="line">
            <a:avLst/>
          </a:prstGeom>
          <a:noFill/>
          <a:ln w="38100">
            <a:solidFill>
              <a:srgbClr val="B7C8E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463040"/>
            <a:ext cx="822960" cy="822960"/>
          </a:xfrm>
          <a:prstGeom prst="ellipse">
            <a:avLst/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1668780"/>
            <a:ext cx="411480" cy="411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2920" y="2468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28163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3291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and purpose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2103120" y="1463040"/>
            <a:ext cx="822960" cy="822960"/>
          </a:xfrm>
          <a:prstGeom prst="ellipse">
            <a:avLst/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860" y="166878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874520" y="2468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1874520" y="28163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874520" y="3291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observed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3474720" y="1463040"/>
            <a:ext cx="822960" cy="822960"/>
          </a:xfrm>
          <a:prstGeom prst="ellipse">
            <a:avLst/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166878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246120" y="2468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3246120" y="28163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Results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3246120" y="3291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846320" y="1463040"/>
            <a:ext cx="822960" cy="822960"/>
          </a:xfrm>
          <a:prstGeom prst="ellipse">
            <a:avLst/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2060" y="166878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617720" y="2468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4617720" y="28163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4617720" y="3291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compares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217920" y="1463040"/>
            <a:ext cx="822960" cy="822960"/>
          </a:xfrm>
          <a:prstGeom prst="ellipse">
            <a:avLst/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660" y="166878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989320" y="2468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</a:t>
            </a:r>
            <a:endParaRPr lang="en-US" sz="1800" dirty="0"/>
          </a:p>
        </p:txBody>
      </p:sp>
      <p:sp>
        <p:nvSpPr>
          <p:cNvPr id="28" name="Text 20"/>
          <p:cNvSpPr txBox="1"/>
          <p:nvPr/>
        </p:nvSpPr>
        <p:spPr>
          <a:xfrm>
            <a:off x="5989320" y="28163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29" name="Text 21"/>
          <p:cNvSpPr txBox="1"/>
          <p:nvPr/>
        </p:nvSpPr>
        <p:spPr>
          <a:xfrm>
            <a:off x="5989320" y="3291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with care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7589520" y="1463040"/>
            <a:ext cx="822960" cy="822960"/>
          </a:xfrm>
          <a:prstGeom prst="ellipse">
            <a:avLst/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5260" y="1668780"/>
            <a:ext cx="411480" cy="41148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7360920" y="2468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</a:t>
            </a:r>
            <a:endParaRPr lang="en-US" sz="1800" dirty="0"/>
          </a:p>
        </p:txBody>
      </p:sp>
      <p:sp>
        <p:nvSpPr>
          <p:cNvPr id="33" name="Text 24"/>
          <p:cNvSpPr txBox="1"/>
          <p:nvPr/>
        </p:nvSpPr>
        <p:spPr>
          <a:xfrm>
            <a:off x="7360920" y="28163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4" name="Text 25"/>
          <p:cNvSpPr txBox="1"/>
          <p:nvPr/>
        </p:nvSpPr>
        <p:spPr>
          <a:xfrm>
            <a:off x="7360920" y="3291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457200" y="402336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457200" y="40233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chapter answers:  What did we find?  →  What does it mean?  →  How good is it?</a:t>
            </a:r>
            <a:endParaRPr lang="en-US" sz="1600" dirty="0"/>
          </a:p>
        </p:txBody>
      </p:sp>
      <p:sp>
        <p:nvSpPr>
          <p:cNvPr id="37" name="Text 28"/>
          <p:cNvSpPr txBox="1"/>
          <p:nvPr/>
        </p:nvSpPr>
        <p:spPr>
          <a:xfrm>
            <a:off x="33832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|  Result and Analysis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786384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68680" cy="502920"/>
          </a:xfrm>
          <a:prstGeom prst="roundRect">
            <a:avLst>
              <a:gd name="adj" fmla="val 21818"/>
            </a:avLst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2004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pic>
        <p:nvPicPr>
          <p:cNvPr id="5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188720"/>
            <a:ext cx="4023360" cy="1188720"/>
          </a:xfrm>
          <a:prstGeom prst="roundRect">
            <a:avLst>
              <a:gd name="adj" fmla="val 9231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" y="1463040"/>
            <a:ext cx="640080" cy="640080"/>
          </a:xfrm>
          <a:prstGeom prst="ellipse">
            <a:avLst/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162306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Presents the results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17556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what the experiment or study produced.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663440" y="1188720"/>
            <a:ext cx="4023360" cy="1188720"/>
          </a:xfrm>
          <a:prstGeom prst="roundRect">
            <a:avLst>
              <a:gd name="adj" fmla="val 9231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892040" y="1463040"/>
            <a:ext cx="640080" cy="640080"/>
          </a:xfrm>
          <a:prstGeom prst="ellipse">
            <a:avLst/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62306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71500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Provides context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5715000" y="17556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background needed to understand the findings.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57200" y="2560320"/>
            <a:ext cx="4023360" cy="1188720"/>
          </a:xfrm>
          <a:prstGeom prst="roundRect">
            <a:avLst>
              <a:gd name="adj" fmla="val 9231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85800" y="2834640"/>
            <a:ext cx="640080" cy="640080"/>
          </a:xfrm>
          <a:prstGeom prst="ellipse">
            <a:avLst/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299466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roadmap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1508760" y="31272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how the results are organized in this chapter.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4663440" y="2560320"/>
            <a:ext cx="4023360" cy="1188720"/>
          </a:xfrm>
          <a:prstGeom prst="roundRect">
            <a:avLst>
              <a:gd name="adj" fmla="val 9231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892040" y="2834640"/>
            <a:ext cx="640080" cy="640080"/>
          </a:xfrm>
          <a:prstGeom prst="ellipse">
            <a:avLst/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2060" y="2994660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715000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Shows the motivation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5715000" y="31272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 the study is necessary.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457200" y="402336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21792" y="4114800"/>
            <a:ext cx="384048" cy="384048"/>
          </a:xfrm>
          <a:prstGeom prst="ellipse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" y="4210812"/>
            <a:ext cx="192024" cy="19202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188720" y="4023360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the research is important, relevant and worth conducting.</a:t>
            </a:r>
            <a:endParaRPr lang="en-US" sz="1500" dirty="0"/>
          </a:p>
        </p:txBody>
      </p:sp>
      <p:sp>
        <p:nvSpPr>
          <p:cNvPr id="30" name="Shape 22"/>
          <p:cNvSpPr/>
          <p:nvPr/>
        </p:nvSpPr>
        <p:spPr>
          <a:xfrm>
            <a:off x="4572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9144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C9D8EC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13716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C9D8EC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18288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C9D8EC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22860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C9D8EC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27432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C9D8EC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33832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|  Result and Analysis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786384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68680" cy="502920"/>
          </a:xfrm>
          <a:prstGeom prst="roundRect">
            <a:avLst>
              <a:gd name="adj" fmla="val 21818"/>
            </a:avLst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2004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Results</a:t>
            </a:r>
            <a:endParaRPr lang="en-US" sz="3000" dirty="0"/>
          </a:p>
        </p:txBody>
      </p:sp>
      <p:pic>
        <p:nvPicPr>
          <p:cNvPr id="5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188720"/>
            <a:ext cx="2560320" cy="2606040"/>
          </a:xfrm>
          <a:prstGeom prst="roundRect">
            <a:avLst>
              <a:gd name="adj" fmla="val 428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" y="1417320"/>
            <a:ext cx="685800" cy="685800"/>
          </a:xfrm>
          <a:prstGeom prst="ellipse">
            <a:avLst/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588770"/>
            <a:ext cx="342900" cy="342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5800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1B4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Tables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8163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numbers that are easy to compare.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85800" y="33832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85800" y="3383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exact values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291840" y="1188720"/>
            <a:ext cx="2560320" cy="2606040"/>
          </a:xfrm>
          <a:prstGeom prst="roundRect">
            <a:avLst>
              <a:gd name="adj" fmla="val 428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520440" y="1417320"/>
            <a:ext cx="685800" cy="685800"/>
          </a:xfrm>
          <a:prstGeom prst="ellipse">
            <a:avLst/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1890" y="158877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520440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1B4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Graphs &amp; Figures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3520440" y="28163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trends and patterns in the findings.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3520440" y="33832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3520440" y="3383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trends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126480" y="1188720"/>
            <a:ext cx="2560320" cy="2606040"/>
          </a:xfrm>
          <a:prstGeom prst="roundRect">
            <a:avLst>
              <a:gd name="adj" fmla="val 428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355080" y="1417320"/>
            <a:ext cx="685800" cy="685800"/>
          </a:xfrm>
          <a:prstGeom prst="ellipse">
            <a:avLst/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6530" y="1588770"/>
            <a:ext cx="342900" cy="3429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355080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1B4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Measures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6355080" y="28163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that show how well the method works.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6355080" y="33832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355080" y="3383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evaluation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457200" y="402336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21792" y="4114800"/>
            <a:ext cx="384048" cy="384048"/>
          </a:xfrm>
          <a:prstGeom prst="ellipse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" y="4210812"/>
            <a:ext cx="192024" cy="19202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188720" y="4023360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observed findings clearly and systematically.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4572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C9D8EC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9144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13716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C9D8EC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18288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C9D8EC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22860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C9D8EC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27432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C9D8EC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33832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|  Result and Analysis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786384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68680" cy="502920"/>
          </a:xfrm>
          <a:prstGeom prst="roundRect">
            <a:avLst>
              <a:gd name="adj" fmla="val 21818"/>
            </a:avLst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2004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Table and Figure</a:t>
            </a:r>
            <a:endParaRPr lang="en-US" sz="3000" dirty="0"/>
          </a:p>
        </p:txBody>
      </p:sp>
      <p:pic>
        <p:nvPicPr>
          <p:cNvPr id="5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188720"/>
            <a:ext cx="4023360" cy="2606040"/>
          </a:xfrm>
          <a:prstGeom prst="roundRect">
            <a:avLst>
              <a:gd name="adj" fmla="val 3509"/>
            </a:avLst>
          </a:prstGeom>
          <a:solidFill>
            <a:srgbClr val="F6F9FD"/>
          </a:solidFill>
          <a:ln w="19050">
            <a:solidFill>
              <a:srgbClr val="1B4079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2148840" y="1508760"/>
            <a:ext cx="640080" cy="640080"/>
          </a:xfrm>
          <a:prstGeom prst="ellipse">
            <a:avLst/>
          </a:prstGeom>
          <a:solidFill>
            <a:srgbClr val="C9D8EC"/>
          </a:solidFill>
          <a:ln w="12700">
            <a:solidFill>
              <a:srgbClr val="C9D8E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860" y="16687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2286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4.1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2697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your results table here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3108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what the table shows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663440" y="1188720"/>
            <a:ext cx="4023360" cy="2606040"/>
          </a:xfrm>
          <a:prstGeom prst="roundRect">
            <a:avLst>
              <a:gd name="adj" fmla="val 3509"/>
            </a:avLst>
          </a:prstGeom>
          <a:solidFill>
            <a:srgbClr val="F6F9FD"/>
          </a:solidFill>
          <a:ln w="19050">
            <a:solidFill>
              <a:srgbClr val="1B4079"/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6355080" y="1508760"/>
            <a:ext cx="640080" cy="640080"/>
          </a:xfrm>
          <a:prstGeom prst="ellipse">
            <a:avLst/>
          </a:prstGeom>
          <a:solidFill>
            <a:srgbClr val="C9D8EC"/>
          </a:solidFill>
          <a:ln w="12700">
            <a:solidFill>
              <a:srgbClr val="C9D8EC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66878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663440" y="2286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 4.1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4663440" y="2697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your graph or chart here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663440" y="3108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what the figure shows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402336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1792" y="4114800"/>
            <a:ext cx="384048" cy="384048"/>
          </a:xfrm>
          <a:prstGeom prst="ellipse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" y="4210812"/>
            <a:ext cx="192024" cy="19202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88720" y="4023360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every table and figure, add a caption, and explain it in one line.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4572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C9D8EC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9144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3716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C9D8EC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8288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C9D8EC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22860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C9D8EC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27432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C9D8EC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33832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|  Result and Analysis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786384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68680" cy="502920"/>
          </a:xfrm>
          <a:prstGeom prst="roundRect">
            <a:avLst>
              <a:gd name="adj" fmla="val 21818"/>
            </a:avLst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2004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of Results</a:t>
            </a:r>
            <a:endParaRPr lang="en-US" sz="3000" dirty="0"/>
          </a:p>
        </p:txBody>
      </p:sp>
      <p:pic>
        <p:nvPicPr>
          <p:cNvPr id="5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188720"/>
            <a:ext cx="2103120" cy="777240"/>
          </a:xfrm>
          <a:prstGeom prst="roundRect">
            <a:avLst>
              <a:gd name="adj" fmla="val 14118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1887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4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371600"/>
            <a:ext cx="411480" cy="4114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520440" y="1188720"/>
            <a:ext cx="2103120" cy="777240"/>
          </a:xfrm>
          <a:prstGeom prst="roundRect">
            <a:avLst>
              <a:gd name="adj" fmla="val 14118"/>
            </a:avLst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520440" y="11887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Their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</a:t>
            </a:r>
            <a:endParaRPr lang="en-US" sz="16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371600"/>
            <a:ext cx="411480" cy="41148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583680" y="1188720"/>
            <a:ext cx="2103120" cy="777240"/>
          </a:xfrm>
          <a:prstGeom prst="roundRect">
            <a:avLst>
              <a:gd name="adj" fmla="val 14118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583680" y="11887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4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457200" y="224028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85800" y="2423160"/>
            <a:ext cx="502920" cy="502920"/>
          </a:xfrm>
          <a:prstGeom prst="ellipse">
            <a:avLst/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" y="2548890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2423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results show?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685800" y="31089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main patterns and best values.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3291840" y="224028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3520440" y="2423160"/>
            <a:ext cx="502920" cy="502920"/>
          </a:xfrm>
          <a:prstGeom prst="ellipse">
            <a:avLst/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6170" y="2548890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160520" y="2423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did they occur?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3520440" y="31089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reasons behind the pattern.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6126480" y="224028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355080" y="2423160"/>
            <a:ext cx="502920" cy="502920"/>
          </a:xfrm>
          <a:prstGeom prst="ellipse">
            <a:avLst/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0810" y="2548890"/>
            <a:ext cx="251460" cy="25146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995160" y="2423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what?</a:t>
            </a:r>
            <a:endParaRPr lang="en-US" sz="1400" dirty="0"/>
          </a:p>
        </p:txBody>
      </p:sp>
      <p:sp>
        <p:nvSpPr>
          <p:cNvPr id="28" name="Text 20"/>
          <p:cNvSpPr txBox="1"/>
          <p:nvPr/>
        </p:nvSpPr>
        <p:spPr>
          <a:xfrm>
            <a:off x="6355080" y="31089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the findings back to the objectives.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457200" y="402336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621792" y="4114800"/>
            <a:ext cx="384048" cy="384048"/>
          </a:xfrm>
          <a:prstGeom prst="ellipse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04" y="4210812"/>
            <a:ext cx="192024" cy="19202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188720" y="4023360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the most significant observations and what they mean.</a:t>
            </a:r>
            <a:endParaRPr lang="en-US" sz="1500" dirty="0"/>
          </a:p>
        </p:txBody>
      </p:sp>
      <p:sp>
        <p:nvSpPr>
          <p:cNvPr id="33" name="Shape 24"/>
          <p:cNvSpPr/>
          <p:nvPr/>
        </p:nvSpPr>
        <p:spPr>
          <a:xfrm>
            <a:off x="4572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C9D8EC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9144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C9D8EC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13716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18288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C9D8EC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22860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C9D8EC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27432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C9D8EC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39" name="Text 30"/>
          <p:cNvSpPr txBox="1"/>
          <p:nvPr/>
        </p:nvSpPr>
        <p:spPr>
          <a:xfrm>
            <a:off x="33832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|  Result and Analysis</a:t>
            </a:r>
            <a:endParaRPr lang="en-US" sz="1000" dirty="0"/>
          </a:p>
        </p:txBody>
      </p:sp>
      <p:sp>
        <p:nvSpPr>
          <p:cNvPr id="40" name="Text 31"/>
          <p:cNvSpPr txBox="1"/>
          <p:nvPr/>
        </p:nvSpPr>
        <p:spPr>
          <a:xfrm>
            <a:off x="786384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68680" cy="502920"/>
          </a:xfrm>
          <a:prstGeom prst="roundRect">
            <a:avLst>
              <a:gd name="adj" fmla="val 21818"/>
            </a:avLst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2004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with Existing Methods</a:t>
            </a:r>
            <a:endParaRPr lang="en-US" sz="3000" dirty="0"/>
          </a:p>
        </p:txBody>
      </p:sp>
      <p:pic>
        <p:nvPicPr>
          <p:cNvPr id="5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Method 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Method 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Approach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0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B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0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B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0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B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079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329184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48640" y="3364992"/>
            <a:ext cx="402336" cy="402336"/>
          </a:xfrm>
          <a:prstGeom prst="ellipse">
            <a:avLst/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465576"/>
            <a:ext cx="201168" cy="20116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51560" y="3291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3291840" y="329184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3383280" y="3364992"/>
            <a:ext cx="402336" cy="402336"/>
          </a:xfrm>
          <a:prstGeom prst="ellipse">
            <a:avLst/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3465576"/>
            <a:ext cx="201168" cy="20116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886200" y="3291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metrics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126480" y="329184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6217920" y="3364992"/>
            <a:ext cx="402336" cy="402336"/>
          </a:xfrm>
          <a:prstGeom prst="ellipse">
            <a:avLst/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504" y="3465576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720840" y="3291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the best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457200" y="402336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621792" y="4114800"/>
            <a:ext cx="384048" cy="384048"/>
          </a:xfrm>
          <a:prstGeom prst="ellipse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" y="4210812"/>
            <a:ext cx="192024" cy="19202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188720" y="4023360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 comparison shows how the proposed approach performs.</a:t>
            </a:r>
            <a:endParaRPr lang="en-US" sz="1500" dirty="0"/>
          </a:p>
        </p:txBody>
      </p:sp>
      <p:sp>
        <p:nvSpPr>
          <p:cNvPr id="23" name="Shape 15"/>
          <p:cNvSpPr/>
          <p:nvPr/>
        </p:nvSpPr>
        <p:spPr>
          <a:xfrm>
            <a:off x="4572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C9D8EC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9144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C9D8EC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13716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C9D8EC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18288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22860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C9D8EC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27432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C9D8EC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33832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|  Result and Analysis</a:t>
            </a:r>
            <a:endParaRPr lang="en-US" sz="1000" dirty="0"/>
          </a:p>
        </p:txBody>
      </p:sp>
      <p:sp>
        <p:nvSpPr>
          <p:cNvPr id="30" name="Text 22"/>
          <p:cNvSpPr txBox="1"/>
          <p:nvPr/>
        </p:nvSpPr>
        <p:spPr>
          <a:xfrm>
            <a:off x="786384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68680" cy="502920"/>
          </a:xfrm>
          <a:prstGeom prst="roundRect">
            <a:avLst>
              <a:gd name="adj" fmla="val 21818"/>
            </a:avLst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2004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of Limitations</a:t>
            </a:r>
            <a:endParaRPr lang="en-US" sz="3000" dirty="0"/>
          </a:p>
        </p:txBody>
      </p:sp>
      <p:pic>
        <p:nvPicPr>
          <p:cNvPr id="5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18872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" y="1497330"/>
            <a:ext cx="251460" cy="2514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371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0574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or conditions that may affect results.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291840" y="118872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520440" y="1371600"/>
            <a:ext cx="502920" cy="502920"/>
          </a:xfrm>
          <a:prstGeom prst="ellipse">
            <a:avLst/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170" y="149733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160520" y="1371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3520440" y="20574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Size, quality or coverage of the data.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126480" y="118872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355080" y="1371600"/>
            <a:ext cx="502920" cy="502920"/>
          </a:xfrm>
          <a:prstGeom prst="ellipse">
            <a:avLst/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810" y="1497330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995160" y="1371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0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&amp; Evaluation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6355080" y="20574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in the method or evaluation.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handle limitations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457200" y="3291840"/>
            <a:ext cx="219456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9050">
            <a:solidFill>
              <a:srgbClr val="1B4079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457200" y="3291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them</a:t>
            </a:r>
            <a:endParaRPr lang="en-US" sz="14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3383280"/>
            <a:ext cx="320040" cy="32004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3291840" y="3291840"/>
            <a:ext cx="219456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9050">
            <a:solidFill>
              <a:srgbClr val="1B4079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3291840" y="3291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impact</a:t>
            </a:r>
            <a:endParaRPr lang="en-US" sz="14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3383280"/>
            <a:ext cx="320040" cy="32004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126480" y="3291840"/>
            <a:ext cx="219456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9050">
            <a:solidFill>
              <a:srgbClr val="1B4079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6126480" y="3291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future work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457200" y="402336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621792" y="4114800"/>
            <a:ext cx="384048" cy="384048"/>
          </a:xfrm>
          <a:prstGeom prst="ellipse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04" y="4210812"/>
            <a:ext cx="192024" cy="192024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188720" y="4023360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findings with caution, yet their significance justifies the research.</a:t>
            </a:r>
            <a:endParaRPr lang="en-US" sz="1500" dirty="0"/>
          </a:p>
        </p:txBody>
      </p:sp>
      <p:sp>
        <p:nvSpPr>
          <p:cNvPr id="34" name="Shape 25"/>
          <p:cNvSpPr/>
          <p:nvPr/>
        </p:nvSpPr>
        <p:spPr>
          <a:xfrm>
            <a:off x="4572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C9D8EC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9144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C9D8EC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13716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C9D8EC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18288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C9D8EC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22860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1B4079"/>
          </a:solidFill>
          <a:ln w="12700">
            <a:solidFill>
              <a:srgbClr val="1B4079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2743200" y="4818888"/>
            <a:ext cx="384048" cy="91440"/>
          </a:xfrm>
          <a:prstGeom prst="roundRect">
            <a:avLst>
              <a:gd name="adj" fmla="val 50000"/>
            </a:avLst>
          </a:prstGeom>
          <a:solidFill>
            <a:srgbClr val="C9D8EC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33832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|  Result and Analysis</a:t>
            </a:r>
            <a:endParaRPr lang="en-US" sz="1000" dirty="0"/>
          </a:p>
        </p:txBody>
      </p:sp>
      <p:sp>
        <p:nvSpPr>
          <p:cNvPr id="41" name="Text 32"/>
          <p:cNvSpPr txBox="1"/>
          <p:nvPr/>
        </p:nvSpPr>
        <p:spPr>
          <a:xfrm>
            <a:off x="786384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0" y="274320"/>
            <a:ext cx="914400" cy="914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2B33D"/>
            </a:solidFill>
            <a:prstDash val="solid"/>
          </a:ln>
        </p:spPr>
      </p:sp>
      <p:pic>
        <p:nvPicPr>
          <p:cNvPr id="5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4" y="420624"/>
            <a:ext cx="621792" cy="6217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828800"/>
            <a:ext cx="2560320" cy="2468880"/>
          </a:xfrm>
          <a:prstGeom prst="roundRect">
            <a:avLst>
              <a:gd name="adj" fmla="val 4444"/>
            </a:avLst>
          </a:prstGeom>
          <a:solidFill>
            <a:srgbClr val="1F4C8F"/>
          </a:solidFill>
          <a:ln w="12700">
            <a:solidFill>
              <a:srgbClr val="1F4C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2057400"/>
            <a:ext cx="640080" cy="640080"/>
          </a:xfrm>
          <a:prstGeom prst="ellipse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22174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286000" y="20116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8FB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results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2918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the key findings of Chapter 4.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291840" y="1828800"/>
            <a:ext cx="2560320" cy="2468880"/>
          </a:xfrm>
          <a:prstGeom prst="roundRect">
            <a:avLst>
              <a:gd name="adj" fmla="val 4444"/>
            </a:avLst>
          </a:prstGeom>
          <a:solidFill>
            <a:srgbClr val="1F4C8F"/>
          </a:solidFill>
          <a:ln w="12700">
            <a:solidFill>
              <a:srgbClr val="1F4C8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520440" y="2057400"/>
            <a:ext cx="640080" cy="640080"/>
          </a:xfrm>
          <a:prstGeom prst="ellipse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460" y="221742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20640" y="20116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8FB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1"/>
          <p:cNvSpPr txBox="1"/>
          <p:nvPr/>
        </p:nvSpPr>
        <p:spPr>
          <a:xfrm>
            <a:off x="3520440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outcomes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3520440" y="32918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the most important outcomes from the analysis and comparison.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126480" y="1828800"/>
            <a:ext cx="2560320" cy="2468880"/>
          </a:xfrm>
          <a:prstGeom prst="roundRect">
            <a:avLst>
              <a:gd name="adj" fmla="val 4444"/>
            </a:avLst>
          </a:prstGeom>
          <a:solidFill>
            <a:srgbClr val="1F4C8F"/>
          </a:solidFill>
          <a:ln w="12700">
            <a:solidFill>
              <a:srgbClr val="1F4C8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55080" y="2057400"/>
            <a:ext cx="640080" cy="640080"/>
          </a:xfrm>
          <a:prstGeom prst="ellipse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22174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955280" y="20116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8FB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16"/>
          <p:cNvSpPr txBox="1"/>
          <p:nvPr/>
        </p:nvSpPr>
        <p:spPr>
          <a:xfrm>
            <a:off x="6355080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6355080" y="32918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clear transition toward the next chapter.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640080"/>
            <a:ext cx="1828800" cy="18288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2B33D"/>
            </a:solidFill>
            <a:prstDash val="solid"/>
          </a:ln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0208" y="932688"/>
            <a:ext cx="1243584" cy="12435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  |  ICT-3208  |  Dept. of ICT, MBSTU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4: Result and Analysis</dc:title>
  <dc:subject>PptxGenJS Presentation</dc:subject>
  <dc:creator>PptxGenJS</dc:creator>
  <cp:lastModifiedBy>PptxGenJS</cp:lastModifiedBy>
  <cp:revision>1</cp:revision>
  <dcterms:created xsi:type="dcterms:W3CDTF">2026-09-28T18:44:14Z</dcterms:created>
  <dcterms:modified xsi:type="dcterms:W3CDTF">2026-09-28T18:44:14Z</dcterms:modified>
</cp:coreProperties>
</file>