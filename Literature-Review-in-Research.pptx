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Literata SemiBold" panose="020B0604020202020204" charset="0"/>
      <p:regular r:id="rId13"/>
    </p:embeddedFont>
    <p:embeddedFont>
      <p:font typeface="Noto Sans" panose="020B0502040504020204" pitchFamily="34" charset="0"/>
      <p:regular r:id="rId14"/>
    </p:embeddedFont>
    <p:embeddedFont>
      <p:font typeface="Noto Sans Medium" panose="020B0604020202020204" charset="0"/>
      <p:regular r:id="rId15"/>
    </p:embeddedFont>
    <p:embeddedFont>
      <p:font typeface="Noto Sans Semi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1439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will look at what a literature review does and how its main parts fit together. We will also compare a few fictional study examples to see how comparison can reveal limits and gaps.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literature review is a review of previous research about a topic. It brings together the main ideas, methods, and findings. This helps readers understand the research area and gives new research a clear starting point.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does more than describe earlier studies. It helps us understand the field, avoid repeating work, and notice limits. Those limits can point to a research gap. The gap then helps shape a new study.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parts give the chapter a clear route. First, tell readers what the review covers. Then explain the ideas behind the topic and examine related studies. Use that review to identify a gap. End by bringing the main points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introduction is a short guide to the chapter. It names the topic and purpose, gives a brief overview, and explains the review’s scope. It also shows how the chapter is organized, so readers can follow the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gives readers the ideas they need to understand the topic. Start with clear definitions. Then explain the key theories, concepts, and useful models. Most importantly, show how those ideas connect to the research topic.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work examines what other researchers have done. For each study, ask what problem it addressed, which method it used, and what data or study area it covered. Then note its findings and limitations. This makes it easier to compare studies instead of treating them as a list.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fictional examples show how a comparison table works; they are not real studies. The shared columns make differences easy to see. Each example has a different problem and method, and each has a limitation. Comparing those limits can help a researcher decide what to examine next.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research gap is not simply a topic that has never been studied. It can also be something that is weak, unclear, or not yet tested. Read earlier research closely, note its limits, and identify what is missing. That gap can guide a new study.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summary should bring the chapter’s main theories, concepts, studies, and findings together. Remind readers of the limits in earlier work, then restate the gap your research will address. That connection gives the next chapter or study a clear starting point.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2E0D9"/>
          </a:solidFill>
          <a:ln/>
        </p:spPr>
      </p:sp>
      <p:sp>
        <p:nvSpPr>
          <p:cNvPr id="3" name="Shape 1"/>
          <p:cNvSpPr/>
          <p:nvPr/>
        </p:nvSpPr>
        <p:spPr>
          <a:xfrm>
            <a:off x="0" y="0"/>
            <a:ext cx="12191695" cy="6858000"/>
          </a:xfrm>
          <a:prstGeom prst="rect">
            <a:avLst/>
          </a:prstGeom>
          <a:solidFill>
            <a:srgbClr val="F7F6F2"/>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61981" y="1863328"/>
            <a:ext cx="6614054"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RESEARCH METHODOLOGY</a:t>
            </a:r>
            <a:endParaRPr lang="en-US" sz="1600" dirty="0"/>
          </a:p>
        </p:txBody>
      </p:sp>
      <p:sp>
        <p:nvSpPr>
          <p:cNvPr id="3" name="Text 1"/>
          <p:cNvSpPr/>
          <p:nvPr/>
        </p:nvSpPr>
        <p:spPr>
          <a:xfrm>
            <a:off x="761981" y="2235994"/>
            <a:ext cx="6004469" cy="1308497"/>
          </a:xfrm>
          <a:prstGeom prst="rect">
            <a:avLst/>
          </a:prstGeom>
          <a:noFill/>
          <a:ln/>
        </p:spPr>
        <p:txBody>
          <a:bodyPr wrap="square" lIns="0" tIns="0" rIns="0" bIns="0" rtlCol="0" anchor="t">
            <a:normAutofit/>
          </a:bodyPr>
          <a:lstStyle/>
          <a:p>
            <a:pPr marL="0" indent="0" algn="l">
              <a:lnSpc>
                <a:spcPct val="93000"/>
              </a:lnSpc>
              <a:buNone/>
            </a:pPr>
            <a:r>
              <a:rPr lang="en-US" sz="4600" kern="0" spc="-55" dirty="0">
                <a:solidFill>
                  <a:srgbClr val="0E0E0E"/>
                </a:solidFill>
                <a:latin typeface="Literata SemiBold" pitchFamily="34" charset="0"/>
                <a:ea typeface="Literata SemiBold" pitchFamily="34" charset="-122"/>
                <a:cs typeface="Literata SemiBold" pitchFamily="34" charset="-120"/>
              </a:rPr>
              <a:t>Literature Review in Research</a:t>
            </a:r>
            <a:endParaRPr lang="en-US" sz="4600" dirty="0"/>
          </a:p>
        </p:txBody>
      </p:sp>
      <p:sp>
        <p:nvSpPr>
          <p:cNvPr id="4" name="Shape 2"/>
          <p:cNvSpPr/>
          <p:nvPr/>
        </p:nvSpPr>
        <p:spPr>
          <a:xfrm>
            <a:off x="761981" y="3841353"/>
            <a:ext cx="1981349" cy="50701"/>
          </a:xfrm>
          <a:prstGeom prst="roundRect">
            <a:avLst>
              <a:gd name="adj" fmla="val 49999"/>
            </a:avLst>
          </a:prstGeom>
          <a:solidFill>
            <a:srgbClr val="2B4A6F"/>
          </a:solidFill>
          <a:ln/>
        </p:spPr>
      </p:sp>
      <p:sp>
        <p:nvSpPr>
          <p:cNvPr id="5" name="Text 3"/>
          <p:cNvSpPr/>
          <p:nvPr/>
        </p:nvSpPr>
        <p:spPr>
          <a:xfrm>
            <a:off x="761981" y="4166791"/>
            <a:ext cx="6614054" cy="337741"/>
          </a:xfrm>
          <a:prstGeom prst="rect">
            <a:avLst/>
          </a:prstGeom>
          <a:noFill/>
          <a:ln/>
        </p:spPr>
        <p:txBody>
          <a:bodyPr wrap="none" lIns="0" tIns="0" rIns="0" bIns="0" rtlCol="0" anchor="t"/>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Student name: Monirojjaman Ayoive</a:t>
            </a:r>
            <a:endParaRPr lang="en-US" sz="1900" dirty="0"/>
          </a:p>
        </p:txBody>
      </p:sp>
      <p:sp>
        <p:nvSpPr>
          <p:cNvPr id="6" name="Text 4"/>
          <p:cNvSpPr/>
          <p:nvPr/>
        </p:nvSpPr>
        <p:spPr>
          <a:xfrm>
            <a:off x="761981" y="4720431"/>
            <a:ext cx="6614054" cy="274241"/>
          </a:xfrm>
          <a:prstGeom prst="rect">
            <a:avLst/>
          </a:prstGeom>
          <a:noFill/>
          <a:ln/>
        </p:spPr>
        <p:txBody>
          <a:bodyPr wrap="none" lIns="0" tIns="0" rIns="0" bIns="0" rtlCol="0" anchor="t"/>
          <a:lstStyle/>
          <a:p>
            <a:pPr marL="0" indent="0" algn="l">
              <a:lnSpc>
                <a:spcPct val="113000"/>
              </a:lnSpc>
              <a:buNone/>
            </a:pPr>
            <a:r>
              <a:rPr lang="en-US" sz="1600" dirty="0">
                <a:solidFill>
                  <a:srgbClr val="57574F"/>
                </a:solidFill>
                <a:latin typeface="Noto Sans" pitchFamily="34" charset="0"/>
                <a:ea typeface="Noto Sans" pitchFamily="34" charset="-122"/>
                <a:cs typeface="Noto Sans" pitchFamily="34" charset="-120"/>
              </a:rPr>
              <a:t>Department of ICT, MBSTU</a:t>
            </a:r>
            <a:endParaRPr lang="en-US" sz="1600" dirty="0"/>
          </a:p>
        </p:txBody>
      </p:sp>
      <p:pic>
        <p:nvPicPr>
          <p:cNvPr id="7" name="Image 0" descr="preencoded.png"/>
          <p:cNvPicPr>
            <a:picLocks noChangeAspect="1"/>
          </p:cNvPicPr>
          <p:nvPr/>
        </p:nvPicPr>
        <p:blipFill>
          <a:blip r:embed="rId3"/>
          <a:stretch>
            <a:fillRect/>
          </a:stretch>
        </p:blipFill>
        <p:spPr>
          <a:xfrm>
            <a:off x="7833124" y="0"/>
            <a:ext cx="4358571" cy="6858000"/>
          </a:xfrm>
          <a:prstGeom prst="rect">
            <a:avLst/>
          </a:prstGeom>
        </p:spPr>
      </p:pic>
      <p:pic>
        <p:nvPicPr>
          <p:cNvPr id="9" name="Picture 8">
            <a:extLst>
              <a:ext uri="{FF2B5EF4-FFF2-40B4-BE49-F238E27FC236}">
                <a16:creationId xmlns:a16="http://schemas.microsoft.com/office/drawing/2014/main" id="{427B219B-E8B1-51A8-8F9E-CA792D6BB7CC}"/>
              </a:ext>
            </a:extLst>
          </p:cNvPr>
          <p:cNvPicPr>
            <a:picLocks noChangeAspect="1"/>
          </p:cNvPicPr>
          <p:nvPr/>
        </p:nvPicPr>
        <p:blipFill>
          <a:blip r:embed="rId4"/>
          <a:stretch>
            <a:fillRect/>
          </a:stretch>
        </p:blipFill>
        <p:spPr>
          <a:xfrm>
            <a:off x="8829206" y="5771998"/>
            <a:ext cx="3362794" cy="10860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61981" y="762000"/>
            <a:ext cx="11277318"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THE BASIC IDEA</a:t>
            </a:r>
            <a:endParaRPr lang="en-US" sz="1600" dirty="0"/>
          </a:p>
        </p:txBody>
      </p:sp>
      <p:sp>
        <p:nvSpPr>
          <p:cNvPr id="3" name="Text 1"/>
          <p:cNvSpPr/>
          <p:nvPr/>
        </p:nvSpPr>
        <p:spPr>
          <a:xfrm>
            <a:off x="761981" y="1134666"/>
            <a:ext cx="10159746" cy="1137841"/>
          </a:xfrm>
          <a:prstGeom prst="rect">
            <a:avLst/>
          </a:prstGeom>
          <a:noFill/>
          <a:ln/>
        </p:spPr>
        <p:txBody>
          <a:bodyPr wrap="square" lIns="0" tIns="0" rIns="0" bIns="0" rtlCol="0" anchor="t">
            <a:normAutofit/>
          </a:bodyPr>
          <a:lstStyle/>
          <a:p>
            <a:pPr marL="0" indent="0" algn="l">
              <a:lnSpc>
                <a:spcPct val="93000"/>
              </a:lnSpc>
              <a:buNone/>
            </a:pPr>
            <a:r>
              <a:rPr lang="en-US" sz="4000" kern="0" spc="-48" dirty="0">
                <a:solidFill>
                  <a:srgbClr val="0E0E0E"/>
                </a:solidFill>
                <a:latin typeface="Literata SemiBold" pitchFamily="34" charset="0"/>
                <a:ea typeface="Literata SemiBold" pitchFamily="34" charset="-122"/>
                <a:cs typeface="Literata SemiBold" pitchFamily="34" charset="-120"/>
              </a:rPr>
              <a:t>A literature review studies what is already known</a:t>
            </a:r>
            <a:endParaRPr lang="en-US" sz="4000" dirty="0"/>
          </a:p>
        </p:txBody>
      </p:sp>
      <p:sp>
        <p:nvSpPr>
          <p:cNvPr id="4" name="Text 2"/>
          <p:cNvSpPr/>
          <p:nvPr/>
        </p:nvSpPr>
        <p:spPr>
          <a:xfrm>
            <a:off x="761981" y="2510631"/>
            <a:ext cx="6095848" cy="548481"/>
          </a:xfrm>
          <a:prstGeom prst="rect">
            <a:avLst/>
          </a:prstGeom>
          <a:noFill/>
          <a:ln/>
        </p:spPr>
        <p:txBody>
          <a:bodyPr wrap="square" lIns="0" tIns="0" rIns="0" bIns="0" rtlCol="0" anchor="t">
            <a:normAutofit/>
          </a:bodyPr>
          <a:lstStyle/>
          <a:p>
            <a:pPr marL="0" indent="0" algn="l">
              <a:lnSpc>
                <a:spcPct val="113000"/>
              </a:lnSpc>
              <a:buNone/>
            </a:pPr>
            <a:r>
              <a:rPr lang="en-US" sz="1600" dirty="0">
                <a:solidFill>
                  <a:srgbClr val="57574F"/>
                </a:solidFill>
                <a:latin typeface="Noto Sans" pitchFamily="34" charset="0"/>
                <a:ea typeface="Noto Sans" pitchFamily="34" charset="-122"/>
                <a:cs typeface="Noto Sans" pitchFamily="34" charset="-120"/>
              </a:rPr>
              <a:t>It brings earlier research together to show what a field has learned so far.</a:t>
            </a:r>
            <a:endParaRPr lang="en-US" sz="1600" dirty="0"/>
          </a:p>
        </p:txBody>
      </p:sp>
      <p:pic>
        <p:nvPicPr>
          <p:cNvPr id="5" name="Image 0" descr="preencoded.png"/>
          <p:cNvPicPr>
            <a:picLocks noChangeAspect="1"/>
          </p:cNvPicPr>
          <p:nvPr/>
        </p:nvPicPr>
        <p:blipFill>
          <a:blip r:embed="rId3"/>
          <a:stretch>
            <a:fillRect/>
          </a:stretch>
        </p:blipFill>
        <p:spPr>
          <a:xfrm>
            <a:off x="761981" y="3238500"/>
            <a:ext cx="5079873" cy="2857500"/>
          </a:xfrm>
          <a:prstGeom prst="rect">
            <a:avLst/>
          </a:prstGeom>
        </p:spPr>
      </p:pic>
      <p:pic>
        <p:nvPicPr>
          <p:cNvPr id="7" name="Picture 6">
            <a:extLst>
              <a:ext uri="{FF2B5EF4-FFF2-40B4-BE49-F238E27FC236}">
                <a16:creationId xmlns:a16="http://schemas.microsoft.com/office/drawing/2014/main" id="{CFDF9480-07AA-3FFD-B5E4-5782FAFFC31D}"/>
              </a:ext>
            </a:extLst>
          </p:cNvPr>
          <p:cNvPicPr>
            <a:picLocks noChangeAspect="1"/>
          </p:cNvPicPr>
          <p:nvPr/>
        </p:nvPicPr>
        <p:blipFill>
          <a:blip r:embed="rId4"/>
          <a:stretch>
            <a:fillRect/>
          </a:stretch>
        </p:blipFill>
        <p:spPr>
          <a:xfrm>
            <a:off x="8829206" y="5771998"/>
            <a:ext cx="3362794" cy="10860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1981" y="762000"/>
            <a:ext cx="11277318"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WHY IT MATTERS</a:t>
            </a:r>
            <a:endParaRPr lang="en-US" sz="1600" dirty="0"/>
          </a:p>
        </p:txBody>
      </p:sp>
      <p:sp>
        <p:nvSpPr>
          <p:cNvPr id="3" name="Text 1"/>
          <p:cNvSpPr/>
          <p:nvPr/>
        </p:nvSpPr>
        <p:spPr>
          <a:xfrm>
            <a:off x="761981" y="1134666"/>
            <a:ext cx="10159746" cy="1137841"/>
          </a:xfrm>
          <a:prstGeom prst="rect">
            <a:avLst/>
          </a:prstGeom>
          <a:noFill/>
          <a:ln/>
        </p:spPr>
        <p:txBody>
          <a:bodyPr wrap="square" lIns="0" tIns="0" rIns="0" bIns="0" rtlCol="0" anchor="t">
            <a:normAutofit/>
          </a:bodyPr>
          <a:lstStyle/>
          <a:p>
            <a:pPr marL="0" indent="0" algn="l">
              <a:lnSpc>
                <a:spcPct val="93000"/>
              </a:lnSpc>
              <a:buNone/>
            </a:pPr>
            <a:r>
              <a:rPr lang="en-US" sz="4000" kern="0" spc="-48" dirty="0">
                <a:solidFill>
                  <a:srgbClr val="0E0E0E"/>
                </a:solidFill>
                <a:latin typeface="Literata SemiBold" pitchFamily="34" charset="0"/>
                <a:ea typeface="Literata SemiBold" pitchFamily="34" charset="-122"/>
                <a:cs typeface="Literata SemiBold" pitchFamily="34" charset="-120"/>
              </a:rPr>
              <a:t>A literature review gives new research a strong foundation</a:t>
            </a:r>
            <a:endParaRPr lang="en-US" sz="4000" dirty="0"/>
          </a:p>
        </p:txBody>
      </p:sp>
      <p:pic>
        <p:nvPicPr>
          <p:cNvPr id="4" name="Image 0" descr="preencoded.png"/>
          <p:cNvPicPr>
            <a:picLocks noChangeAspect="1"/>
          </p:cNvPicPr>
          <p:nvPr/>
        </p:nvPicPr>
        <p:blipFill>
          <a:blip r:embed="rId3"/>
          <a:stretch>
            <a:fillRect/>
          </a:stretch>
        </p:blipFill>
        <p:spPr>
          <a:xfrm>
            <a:off x="761981" y="2628503"/>
            <a:ext cx="603235" cy="603250"/>
          </a:xfrm>
          <a:prstGeom prst="rect">
            <a:avLst/>
          </a:prstGeom>
        </p:spPr>
      </p:pic>
      <p:sp>
        <p:nvSpPr>
          <p:cNvPr id="5" name="Text 2"/>
          <p:cNvSpPr/>
          <p:nvPr/>
        </p:nvSpPr>
        <p:spPr>
          <a:xfrm>
            <a:off x="761981" y="3371453"/>
            <a:ext cx="3403515"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Understand previous research</a:t>
            </a:r>
            <a:endParaRPr lang="en-US" sz="2000" dirty="0"/>
          </a:p>
        </p:txBody>
      </p:sp>
      <p:pic>
        <p:nvPicPr>
          <p:cNvPr id="6" name="Image 1" descr="preencoded.png"/>
          <p:cNvPicPr>
            <a:picLocks noChangeAspect="1"/>
          </p:cNvPicPr>
          <p:nvPr/>
        </p:nvPicPr>
        <p:blipFill>
          <a:blip r:embed="rId4"/>
          <a:stretch>
            <a:fillRect/>
          </a:stretch>
        </p:blipFill>
        <p:spPr>
          <a:xfrm>
            <a:off x="4470288" y="2628503"/>
            <a:ext cx="603235" cy="603250"/>
          </a:xfrm>
          <a:prstGeom prst="rect">
            <a:avLst/>
          </a:prstGeom>
        </p:spPr>
      </p:pic>
      <p:sp>
        <p:nvSpPr>
          <p:cNvPr id="7" name="Text 3"/>
          <p:cNvSpPr/>
          <p:nvPr/>
        </p:nvSpPr>
        <p:spPr>
          <a:xfrm>
            <a:off x="4470288" y="3371453"/>
            <a:ext cx="3251119" cy="330200"/>
          </a:xfrm>
          <a:prstGeom prst="rect">
            <a:avLst/>
          </a:prstGeom>
          <a:noFill/>
          <a:ln/>
        </p:spPr>
        <p:txBody>
          <a:bodyPr wrap="none" lIns="0" tIns="0" rIns="0" bIns="0" rtlCol="0" anchor="t"/>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Find existing knowledge</a:t>
            </a:r>
            <a:endParaRPr lang="en-US" sz="2000" dirty="0"/>
          </a:p>
        </p:txBody>
      </p:sp>
      <p:pic>
        <p:nvPicPr>
          <p:cNvPr id="8" name="Image 2" descr="preencoded.png"/>
          <p:cNvPicPr>
            <a:picLocks noChangeAspect="1"/>
          </p:cNvPicPr>
          <p:nvPr/>
        </p:nvPicPr>
        <p:blipFill>
          <a:blip r:embed="rId5"/>
          <a:stretch>
            <a:fillRect/>
          </a:stretch>
        </p:blipFill>
        <p:spPr>
          <a:xfrm>
            <a:off x="8026199" y="2628503"/>
            <a:ext cx="603235" cy="603250"/>
          </a:xfrm>
          <a:prstGeom prst="rect">
            <a:avLst/>
          </a:prstGeom>
        </p:spPr>
      </p:pic>
      <p:sp>
        <p:nvSpPr>
          <p:cNvPr id="9" name="Text 4"/>
          <p:cNvSpPr/>
          <p:nvPr/>
        </p:nvSpPr>
        <p:spPr>
          <a:xfrm>
            <a:off x="8026199" y="3371453"/>
            <a:ext cx="3403515"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Avoid repeating the same work</a:t>
            </a:r>
            <a:endParaRPr lang="en-US" sz="2000" dirty="0"/>
          </a:p>
        </p:txBody>
      </p:sp>
      <p:pic>
        <p:nvPicPr>
          <p:cNvPr id="10" name="Image 3" descr="preencoded.png"/>
          <p:cNvPicPr>
            <a:picLocks noChangeAspect="1"/>
          </p:cNvPicPr>
          <p:nvPr/>
        </p:nvPicPr>
        <p:blipFill>
          <a:blip r:embed="rId6"/>
          <a:stretch>
            <a:fillRect/>
          </a:stretch>
        </p:blipFill>
        <p:spPr>
          <a:xfrm>
            <a:off x="761981" y="4336653"/>
            <a:ext cx="603235" cy="603250"/>
          </a:xfrm>
          <a:prstGeom prst="rect">
            <a:avLst/>
          </a:prstGeom>
        </p:spPr>
      </p:pic>
      <p:sp>
        <p:nvSpPr>
          <p:cNvPr id="11" name="Text 5"/>
          <p:cNvSpPr/>
          <p:nvPr/>
        </p:nvSpPr>
        <p:spPr>
          <a:xfrm>
            <a:off x="761981" y="5079603"/>
            <a:ext cx="3403515"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Identify limits in earlier studies</a:t>
            </a:r>
            <a:endParaRPr lang="en-US" sz="2000" dirty="0"/>
          </a:p>
        </p:txBody>
      </p:sp>
      <p:pic>
        <p:nvPicPr>
          <p:cNvPr id="12" name="Image 4" descr="preencoded.png"/>
          <p:cNvPicPr>
            <a:picLocks noChangeAspect="1"/>
          </p:cNvPicPr>
          <p:nvPr/>
        </p:nvPicPr>
        <p:blipFill>
          <a:blip r:embed="rId7"/>
          <a:stretch>
            <a:fillRect/>
          </a:stretch>
        </p:blipFill>
        <p:spPr>
          <a:xfrm>
            <a:off x="4470288" y="4336653"/>
            <a:ext cx="603235" cy="603250"/>
          </a:xfrm>
          <a:prstGeom prst="rect">
            <a:avLst/>
          </a:prstGeom>
        </p:spPr>
      </p:pic>
      <p:sp>
        <p:nvSpPr>
          <p:cNvPr id="13" name="Text 6"/>
          <p:cNvSpPr/>
          <p:nvPr/>
        </p:nvSpPr>
        <p:spPr>
          <a:xfrm>
            <a:off x="4470288" y="5079603"/>
            <a:ext cx="3251119" cy="330200"/>
          </a:xfrm>
          <a:prstGeom prst="rect">
            <a:avLst/>
          </a:prstGeom>
          <a:noFill/>
          <a:ln/>
        </p:spPr>
        <p:txBody>
          <a:bodyPr wrap="none" lIns="0" tIns="0" rIns="0" bIns="0" rtlCol="0" anchor="t"/>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Find research gaps</a:t>
            </a:r>
            <a:endParaRPr lang="en-US" sz="2000" dirty="0"/>
          </a:p>
        </p:txBody>
      </p:sp>
      <p:pic>
        <p:nvPicPr>
          <p:cNvPr id="14" name="Image 5" descr="preencoded.png"/>
          <p:cNvPicPr>
            <a:picLocks noChangeAspect="1"/>
          </p:cNvPicPr>
          <p:nvPr/>
        </p:nvPicPr>
        <p:blipFill>
          <a:blip r:embed="rId8"/>
          <a:stretch>
            <a:fillRect/>
          </a:stretch>
        </p:blipFill>
        <p:spPr>
          <a:xfrm>
            <a:off x="8026199" y="4336653"/>
            <a:ext cx="603235" cy="603250"/>
          </a:xfrm>
          <a:prstGeom prst="rect">
            <a:avLst/>
          </a:prstGeom>
        </p:spPr>
      </p:pic>
      <p:sp>
        <p:nvSpPr>
          <p:cNvPr id="15" name="Text 7"/>
          <p:cNvSpPr/>
          <p:nvPr/>
        </p:nvSpPr>
        <p:spPr>
          <a:xfrm>
            <a:off x="8026199" y="5079603"/>
            <a:ext cx="3403515"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Build a foundation for new research</a:t>
            </a:r>
            <a:endParaRPr lang="en-US" sz="2000" dirty="0"/>
          </a:p>
        </p:txBody>
      </p:sp>
      <p:pic>
        <p:nvPicPr>
          <p:cNvPr id="17" name="Picture 16">
            <a:extLst>
              <a:ext uri="{FF2B5EF4-FFF2-40B4-BE49-F238E27FC236}">
                <a16:creationId xmlns:a16="http://schemas.microsoft.com/office/drawing/2014/main" id="{31F2CDB8-898C-706C-298A-462B0F1E5974}"/>
              </a:ext>
            </a:extLst>
          </p:cNvPr>
          <p:cNvPicPr>
            <a:picLocks noChangeAspect="1"/>
          </p:cNvPicPr>
          <p:nvPr/>
        </p:nvPicPr>
        <p:blipFill>
          <a:blip r:embed="rId9"/>
          <a:stretch>
            <a:fillRect/>
          </a:stretch>
        </p:blipFill>
        <p:spPr>
          <a:xfrm>
            <a:off x="8829206" y="5771998"/>
            <a:ext cx="3362794" cy="10860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61981" y="762000"/>
            <a:ext cx="11277318"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CHAPTER MAP</a:t>
            </a:r>
            <a:endParaRPr lang="en-US" sz="1600" dirty="0"/>
          </a:p>
        </p:txBody>
      </p:sp>
      <p:sp>
        <p:nvSpPr>
          <p:cNvPr id="3" name="Text 1"/>
          <p:cNvSpPr/>
          <p:nvPr/>
        </p:nvSpPr>
        <p:spPr>
          <a:xfrm>
            <a:off x="761981" y="1134666"/>
            <a:ext cx="10159746" cy="568920"/>
          </a:xfrm>
          <a:prstGeom prst="rect">
            <a:avLst/>
          </a:prstGeom>
          <a:noFill/>
          <a:ln/>
        </p:spPr>
        <p:txBody>
          <a:bodyPr wrap="none" lIns="0" tIns="0" rIns="0" bIns="0" rtlCol="0" anchor="t"/>
          <a:lstStyle/>
          <a:p>
            <a:pPr marL="0" indent="0" algn="l">
              <a:lnSpc>
                <a:spcPct val="93000"/>
              </a:lnSpc>
              <a:buNone/>
            </a:pPr>
            <a:r>
              <a:rPr lang="en-US" sz="4000" kern="0" spc="-48" dirty="0">
                <a:solidFill>
                  <a:srgbClr val="0E0E0E"/>
                </a:solidFill>
                <a:latin typeface="Literata SemiBold" pitchFamily="34" charset="0"/>
                <a:ea typeface="Literata SemiBold" pitchFamily="34" charset="-122"/>
                <a:cs typeface="Literata SemiBold" pitchFamily="34" charset="-120"/>
              </a:rPr>
              <a:t>Five parts organize the literature review</a:t>
            </a:r>
            <a:endParaRPr lang="en-US" sz="4000" dirty="0"/>
          </a:p>
        </p:txBody>
      </p:sp>
      <p:sp>
        <p:nvSpPr>
          <p:cNvPr id="4" name="Text 2"/>
          <p:cNvSpPr/>
          <p:nvPr/>
        </p:nvSpPr>
        <p:spPr>
          <a:xfrm>
            <a:off x="761981" y="1941711"/>
            <a:ext cx="6095848" cy="548481"/>
          </a:xfrm>
          <a:prstGeom prst="rect">
            <a:avLst/>
          </a:prstGeom>
          <a:noFill/>
          <a:ln/>
        </p:spPr>
        <p:txBody>
          <a:bodyPr wrap="square" lIns="0" tIns="0" rIns="0" bIns="0" rtlCol="0" anchor="t">
            <a:normAutofit/>
          </a:bodyPr>
          <a:lstStyle/>
          <a:p>
            <a:pPr marL="0" indent="0" algn="l">
              <a:lnSpc>
                <a:spcPct val="113000"/>
              </a:lnSpc>
              <a:buNone/>
            </a:pPr>
            <a:r>
              <a:rPr lang="en-US" sz="1600" dirty="0">
                <a:solidFill>
                  <a:srgbClr val="57574F"/>
                </a:solidFill>
                <a:latin typeface="Noto Sans" pitchFamily="34" charset="0"/>
                <a:ea typeface="Noto Sans" pitchFamily="34" charset="-122"/>
                <a:cs typeface="Noto Sans" pitchFamily="34" charset="-120"/>
              </a:rPr>
              <a:t>Together, they guide readers from the review’s purpose to its main takeaway.</a:t>
            </a:r>
            <a:endParaRPr lang="en-US" sz="1600" dirty="0"/>
          </a:p>
        </p:txBody>
      </p:sp>
      <p:sp>
        <p:nvSpPr>
          <p:cNvPr id="5" name="Text 3"/>
          <p:cNvSpPr/>
          <p:nvPr/>
        </p:nvSpPr>
        <p:spPr>
          <a:xfrm>
            <a:off x="761981" y="3284835"/>
            <a:ext cx="885704" cy="241300"/>
          </a:xfrm>
          <a:prstGeom prst="rect">
            <a:avLst/>
          </a:prstGeom>
          <a:noFill/>
          <a:ln/>
        </p:spPr>
        <p:txBody>
          <a:bodyPr wrap="none" lIns="0" tIns="0" rIns="0" bIns="0" rtlCol="0" anchor="t"/>
          <a:lstStyle/>
          <a:p>
            <a:pPr marL="0" indent="0" algn="l">
              <a:lnSpc>
                <a:spcPct val="83000"/>
              </a:lnSpc>
              <a:buNone/>
            </a:pPr>
            <a:r>
              <a:rPr lang="en-US" sz="1900" dirty="0">
                <a:solidFill>
                  <a:srgbClr val="2B4A6F"/>
                </a:solidFill>
                <a:latin typeface="Noto Sans SemiBold" pitchFamily="34" charset="0"/>
                <a:ea typeface="Noto Sans SemiBold" pitchFamily="34" charset="-122"/>
                <a:cs typeface="Noto Sans SemiBold" pitchFamily="34" charset="-120"/>
              </a:rPr>
              <a:t>01</a:t>
            </a:r>
            <a:endParaRPr lang="en-US" sz="1900" dirty="0"/>
          </a:p>
        </p:txBody>
      </p:sp>
      <p:sp>
        <p:nvSpPr>
          <p:cNvPr id="6" name="Shape 4"/>
          <p:cNvSpPr/>
          <p:nvPr/>
        </p:nvSpPr>
        <p:spPr>
          <a:xfrm>
            <a:off x="761981" y="3622675"/>
            <a:ext cx="1767736" cy="19050"/>
          </a:xfrm>
          <a:prstGeom prst="rect">
            <a:avLst/>
          </a:prstGeom>
          <a:solidFill>
            <a:srgbClr val="2B4A6F"/>
          </a:solidFill>
          <a:ln/>
        </p:spPr>
      </p:sp>
      <p:sp>
        <p:nvSpPr>
          <p:cNvPr id="7" name="Text 5"/>
          <p:cNvSpPr/>
          <p:nvPr/>
        </p:nvSpPr>
        <p:spPr>
          <a:xfrm>
            <a:off x="761981" y="3786485"/>
            <a:ext cx="1767835" cy="330200"/>
          </a:xfrm>
          <a:prstGeom prst="rect">
            <a:avLst/>
          </a:prstGeom>
          <a:noFill/>
          <a:ln/>
        </p:spPr>
        <p:txBody>
          <a:bodyPr wrap="none" lIns="0" tIns="0" rIns="0" bIns="0" rtlCol="0" anchor="t"/>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Introduction</a:t>
            </a:r>
            <a:endParaRPr lang="en-US" sz="2000" dirty="0"/>
          </a:p>
        </p:txBody>
      </p:sp>
      <p:sp>
        <p:nvSpPr>
          <p:cNvPr id="8" name="Text 6"/>
          <p:cNvSpPr/>
          <p:nvPr/>
        </p:nvSpPr>
        <p:spPr>
          <a:xfrm>
            <a:off x="761981" y="4288135"/>
            <a:ext cx="1767835"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Sets the topic and scope.</a:t>
            </a:r>
            <a:endParaRPr lang="en-US" sz="1900" dirty="0"/>
          </a:p>
        </p:txBody>
      </p:sp>
      <p:sp>
        <p:nvSpPr>
          <p:cNvPr id="9" name="Text 7"/>
          <p:cNvSpPr/>
          <p:nvPr/>
        </p:nvSpPr>
        <p:spPr>
          <a:xfrm>
            <a:off x="2986906" y="3284835"/>
            <a:ext cx="885704" cy="241300"/>
          </a:xfrm>
          <a:prstGeom prst="rect">
            <a:avLst/>
          </a:prstGeom>
          <a:noFill/>
          <a:ln/>
        </p:spPr>
        <p:txBody>
          <a:bodyPr wrap="none" lIns="0" tIns="0" rIns="0" bIns="0" rtlCol="0" anchor="t"/>
          <a:lstStyle/>
          <a:p>
            <a:pPr marL="0" indent="0" algn="l">
              <a:lnSpc>
                <a:spcPct val="83000"/>
              </a:lnSpc>
              <a:buNone/>
            </a:pPr>
            <a:r>
              <a:rPr lang="en-US" sz="1900" dirty="0">
                <a:solidFill>
                  <a:srgbClr val="2B4A6F"/>
                </a:solidFill>
                <a:latin typeface="Noto Sans SemiBold" pitchFamily="34" charset="0"/>
                <a:ea typeface="Noto Sans SemiBold" pitchFamily="34" charset="-122"/>
                <a:cs typeface="Noto Sans SemiBold" pitchFamily="34" charset="-120"/>
              </a:rPr>
              <a:t>02</a:t>
            </a:r>
            <a:endParaRPr lang="en-US" sz="1900" dirty="0"/>
          </a:p>
        </p:txBody>
      </p:sp>
      <p:sp>
        <p:nvSpPr>
          <p:cNvPr id="10" name="Shape 8"/>
          <p:cNvSpPr/>
          <p:nvPr/>
        </p:nvSpPr>
        <p:spPr>
          <a:xfrm>
            <a:off x="2986906" y="3622675"/>
            <a:ext cx="1767935" cy="19050"/>
          </a:xfrm>
          <a:prstGeom prst="rect">
            <a:avLst/>
          </a:prstGeom>
          <a:solidFill>
            <a:srgbClr val="2B4A6F"/>
          </a:solidFill>
          <a:ln/>
        </p:spPr>
      </p:sp>
      <p:sp>
        <p:nvSpPr>
          <p:cNvPr id="11" name="Text 9"/>
          <p:cNvSpPr/>
          <p:nvPr/>
        </p:nvSpPr>
        <p:spPr>
          <a:xfrm>
            <a:off x="2986906" y="3786485"/>
            <a:ext cx="1767935"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Theoretical background</a:t>
            </a:r>
            <a:endParaRPr lang="en-US" sz="2000" dirty="0"/>
          </a:p>
        </p:txBody>
      </p:sp>
      <p:sp>
        <p:nvSpPr>
          <p:cNvPr id="12" name="Text 10"/>
          <p:cNvSpPr/>
          <p:nvPr/>
        </p:nvSpPr>
        <p:spPr>
          <a:xfrm>
            <a:off x="2986906" y="4618335"/>
            <a:ext cx="1767935"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Explains key ideas.</a:t>
            </a:r>
            <a:endParaRPr lang="en-US" sz="1900" dirty="0"/>
          </a:p>
        </p:txBody>
      </p:sp>
      <p:sp>
        <p:nvSpPr>
          <p:cNvPr id="13" name="Text 11"/>
          <p:cNvSpPr/>
          <p:nvPr/>
        </p:nvSpPr>
        <p:spPr>
          <a:xfrm>
            <a:off x="5211930" y="3284835"/>
            <a:ext cx="885704" cy="241300"/>
          </a:xfrm>
          <a:prstGeom prst="rect">
            <a:avLst/>
          </a:prstGeom>
          <a:noFill/>
          <a:ln/>
        </p:spPr>
        <p:txBody>
          <a:bodyPr wrap="none" lIns="0" tIns="0" rIns="0" bIns="0" rtlCol="0" anchor="t"/>
          <a:lstStyle/>
          <a:p>
            <a:pPr marL="0" indent="0" algn="l">
              <a:lnSpc>
                <a:spcPct val="83000"/>
              </a:lnSpc>
              <a:buNone/>
            </a:pPr>
            <a:r>
              <a:rPr lang="en-US" sz="1900" dirty="0">
                <a:solidFill>
                  <a:srgbClr val="2B4A6F"/>
                </a:solidFill>
                <a:latin typeface="Noto Sans SemiBold" pitchFamily="34" charset="0"/>
                <a:ea typeface="Noto Sans SemiBold" pitchFamily="34" charset="-122"/>
                <a:cs typeface="Noto Sans SemiBold" pitchFamily="34" charset="-120"/>
              </a:rPr>
              <a:t>03</a:t>
            </a:r>
            <a:endParaRPr lang="en-US" sz="1900" dirty="0"/>
          </a:p>
        </p:txBody>
      </p:sp>
      <p:sp>
        <p:nvSpPr>
          <p:cNvPr id="14" name="Shape 12"/>
          <p:cNvSpPr/>
          <p:nvPr/>
        </p:nvSpPr>
        <p:spPr>
          <a:xfrm>
            <a:off x="5211930" y="3622675"/>
            <a:ext cx="1767736" cy="19050"/>
          </a:xfrm>
          <a:prstGeom prst="rect">
            <a:avLst/>
          </a:prstGeom>
          <a:solidFill>
            <a:srgbClr val="2B4A6F"/>
          </a:solidFill>
          <a:ln/>
        </p:spPr>
      </p:sp>
      <p:sp>
        <p:nvSpPr>
          <p:cNvPr id="15" name="Text 13"/>
          <p:cNvSpPr/>
          <p:nvPr/>
        </p:nvSpPr>
        <p:spPr>
          <a:xfrm>
            <a:off x="5211930" y="3786485"/>
            <a:ext cx="1767835" cy="330200"/>
          </a:xfrm>
          <a:prstGeom prst="rect">
            <a:avLst/>
          </a:prstGeom>
          <a:noFill/>
          <a:ln/>
        </p:spPr>
        <p:txBody>
          <a:bodyPr wrap="none" lIns="0" tIns="0" rIns="0" bIns="0" rtlCol="0" anchor="t"/>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Related work</a:t>
            </a:r>
            <a:endParaRPr lang="en-US" sz="2000" dirty="0"/>
          </a:p>
        </p:txBody>
      </p:sp>
      <p:sp>
        <p:nvSpPr>
          <p:cNvPr id="16" name="Text 14"/>
          <p:cNvSpPr/>
          <p:nvPr/>
        </p:nvSpPr>
        <p:spPr>
          <a:xfrm>
            <a:off x="5211930" y="4288135"/>
            <a:ext cx="1767835"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Reviews earlier studies.</a:t>
            </a:r>
            <a:endParaRPr lang="en-US" sz="1900" dirty="0"/>
          </a:p>
        </p:txBody>
      </p:sp>
      <p:sp>
        <p:nvSpPr>
          <p:cNvPr id="17" name="Text 15"/>
          <p:cNvSpPr/>
          <p:nvPr/>
        </p:nvSpPr>
        <p:spPr>
          <a:xfrm>
            <a:off x="7436855" y="3284835"/>
            <a:ext cx="885704" cy="241300"/>
          </a:xfrm>
          <a:prstGeom prst="rect">
            <a:avLst/>
          </a:prstGeom>
          <a:noFill/>
          <a:ln/>
        </p:spPr>
        <p:txBody>
          <a:bodyPr wrap="none" lIns="0" tIns="0" rIns="0" bIns="0" rtlCol="0" anchor="t"/>
          <a:lstStyle/>
          <a:p>
            <a:pPr marL="0" indent="0" algn="l">
              <a:lnSpc>
                <a:spcPct val="83000"/>
              </a:lnSpc>
              <a:buNone/>
            </a:pPr>
            <a:r>
              <a:rPr lang="en-US" sz="1900" dirty="0">
                <a:solidFill>
                  <a:srgbClr val="2B4A6F"/>
                </a:solidFill>
                <a:latin typeface="Noto Sans SemiBold" pitchFamily="34" charset="0"/>
                <a:ea typeface="Noto Sans SemiBold" pitchFamily="34" charset="-122"/>
                <a:cs typeface="Noto Sans SemiBold" pitchFamily="34" charset="-120"/>
              </a:rPr>
              <a:t>04</a:t>
            </a:r>
            <a:endParaRPr lang="en-US" sz="1900" dirty="0"/>
          </a:p>
        </p:txBody>
      </p:sp>
      <p:sp>
        <p:nvSpPr>
          <p:cNvPr id="18" name="Shape 16"/>
          <p:cNvSpPr/>
          <p:nvPr/>
        </p:nvSpPr>
        <p:spPr>
          <a:xfrm>
            <a:off x="7436855" y="3622675"/>
            <a:ext cx="1767935" cy="19050"/>
          </a:xfrm>
          <a:prstGeom prst="rect">
            <a:avLst/>
          </a:prstGeom>
          <a:solidFill>
            <a:srgbClr val="2B4A6F"/>
          </a:solidFill>
          <a:ln/>
        </p:spPr>
      </p:sp>
      <p:sp>
        <p:nvSpPr>
          <p:cNvPr id="19" name="Text 17"/>
          <p:cNvSpPr/>
          <p:nvPr/>
        </p:nvSpPr>
        <p:spPr>
          <a:xfrm>
            <a:off x="7436855" y="3786485"/>
            <a:ext cx="1767935" cy="330200"/>
          </a:xfrm>
          <a:prstGeom prst="rect">
            <a:avLst/>
          </a:prstGeom>
          <a:noFill/>
          <a:ln/>
        </p:spPr>
        <p:txBody>
          <a:bodyPr wrap="none" lIns="0" tIns="0" rIns="0" bIns="0" rtlCol="0" anchor="t"/>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Research gap</a:t>
            </a:r>
            <a:endParaRPr lang="en-US" sz="2000" dirty="0"/>
          </a:p>
        </p:txBody>
      </p:sp>
      <p:sp>
        <p:nvSpPr>
          <p:cNvPr id="20" name="Text 18"/>
          <p:cNvSpPr/>
          <p:nvPr/>
        </p:nvSpPr>
        <p:spPr>
          <a:xfrm>
            <a:off x="7436855" y="4288135"/>
            <a:ext cx="1767935"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Names what is missing.</a:t>
            </a:r>
            <a:endParaRPr lang="en-US" sz="1900" dirty="0"/>
          </a:p>
        </p:txBody>
      </p:sp>
      <p:sp>
        <p:nvSpPr>
          <p:cNvPr id="21" name="Text 19"/>
          <p:cNvSpPr/>
          <p:nvPr/>
        </p:nvSpPr>
        <p:spPr>
          <a:xfrm>
            <a:off x="9661879" y="3284835"/>
            <a:ext cx="885704" cy="241300"/>
          </a:xfrm>
          <a:prstGeom prst="rect">
            <a:avLst/>
          </a:prstGeom>
          <a:noFill/>
          <a:ln/>
        </p:spPr>
        <p:txBody>
          <a:bodyPr wrap="none" lIns="0" tIns="0" rIns="0" bIns="0" rtlCol="0" anchor="t"/>
          <a:lstStyle/>
          <a:p>
            <a:pPr marL="0" indent="0" algn="l">
              <a:lnSpc>
                <a:spcPct val="83000"/>
              </a:lnSpc>
              <a:buNone/>
            </a:pPr>
            <a:r>
              <a:rPr lang="en-US" sz="1900" dirty="0">
                <a:solidFill>
                  <a:srgbClr val="2B4A6F"/>
                </a:solidFill>
                <a:latin typeface="Noto Sans SemiBold" pitchFamily="34" charset="0"/>
                <a:ea typeface="Noto Sans SemiBold" pitchFamily="34" charset="-122"/>
                <a:cs typeface="Noto Sans SemiBold" pitchFamily="34" charset="-120"/>
              </a:rPr>
              <a:t>05</a:t>
            </a:r>
            <a:endParaRPr lang="en-US" sz="1900" dirty="0"/>
          </a:p>
        </p:txBody>
      </p:sp>
      <p:sp>
        <p:nvSpPr>
          <p:cNvPr id="22" name="Shape 20"/>
          <p:cNvSpPr/>
          <p:nvPr/>
        </p:nvSpPr>
        <p:spPr>
          <a:xfrm>
            <a:off x="9661879" y="3622675"/>
            <a:ext cx="1767736" cy="19050"/>
          </a:xfrm>
          <a:prstGeom prst="rect">
            <a:avLst/>
          </a:prstGeom>
          <a:solidFill>
            <a:srgbClr val="2B4A6F"/>
          </a:solidFill>
          <a:ln/>
        </p:spPr>
      </p:sp>
      <p:sp>
        <p:nvSpPr>
          <p:cNvPr id="23" name="Text 21"/>
          <p:cNvSpPr/>
          <p:nvPr/>
        </p:nvSpPr>
        <p:spPr>
          <a:xfrm>
            <a:off x="9661879" y="3786485"/>
            <a:ext cx="1767835" cy="330200"/>
          </a:xfrm>
          <a:prstGeom prst="rect">
            <a:avLst/>
          </a:prstGeom>
          <a:noFill/>
          <a:ln/>
        </p:spPr>
        <p:txBody>
          <a:bodyPr wrap="none" lIns="0" tIns="0" rIns="0" bIns="0" rtlCol="0" anchor="t"/>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Summary</a:t>
            </a:r>
            <a:endParaRPr lang="en-US" sz="2000" dirty="0"/>
          </a:p>
        </p:txBody>
      </p:sp>
      <p:sp>
        <p:nvSpPr>
          <p:cNvPr id="24" name="Text 22"/>
          <p:cNvSpPr/>
          <p:nvPr/>
        </p:nvSpPr>
        <p:spPr>
          <a:xfrm>
            <a:off x="9661879" y="4288135"/>
            <a:ext cx="1767835" cy="1013222"/>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Brings the chapter together.</a:t>
            </a:r>
            <a:endParaRPr lang="en-US" sz="1900" dirty="0"/>
          </a:p>
        </p:txBody>
      </p:sp>
      <p:pic>
        <p:nvPicPr>
          <p:cNvPr id="26" name="Picture 25">
            <a:extLst>
              <a:ext uri="{FF2B5EF4-FFF2-40B4-BE49-F238E27FC236}">
                <a16:creationId xmlns:a16="http://schemas.microsoft.com/office/drawing/2014/main" id="{01EDD2FA-9557-7318-B38E-508548148E54}"/>
              </a:ext>
            </a:extLst>
          </p:cNvPr>
          <p:cNvPicPr>
            <a:picLocks noChangeAspect="1"/>
          </p:cNvPicPr>
          <p:nvPr/>
        </p:nvPicPr>
        <p:blipFill>
          <a:blip r:embed="rId3"/>
          <a:stretch>
            <a:fillRect/>
          </a:stretch>
        </p:blipFill>
        <p:spPr>
          <a:xfrm>
            <a:off x="8829206" y="5767685"/>
            <a:ext cx="3362794" cy="10860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1981" y="762000"/>
            <a:ext cx="11277318"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PART 1 · INTRODUCTION</a:t>
            </a:r>
            <a:endParaRPr lang="en-US" sz="1600" dirty="0"/>
          </a:p>
        </p:txBody>
      </p:sp>
      <p:sp>
        <p:nvSpPr>
          <p:cNvPr id="3" name="Text 1"/>
          <p:cNvSpPr/>
          <p:nvPr/>
        </p:nvSpPr>
        <p:spPr>
          <a:xfrm>
            <a:off x="761981" y="1134666"/>
            <a:ext cx="10159746" cy="1137841"/>
          </a:xfrm>
          <a:prstGeom prst="rect">
            <a:avLst/>
          </a:prstGeom>
          <a:noFill/>
          <a:ln/>
        </p:spPr>
        <p:txBody>
          <a:bodyPr wrap="square" lIns="0" tIns="0" rIns="0" bIns="0" rtlCol="0" anchor="t">
            <a:normAutofit/>
          </a:bodyPr>
          <a:lstStyle/>
          <a:p>
            <a:pPr marL="0" indent="0" algn="l">
              <a:lnSpc>
                <a:spcPct val="93000"/>
              </a:lnSpc>
              <a:buNone/>
            </a:pPr>
            <a:r>
              <a:rPr lang="en-US" sz="4000" kern="0" spc="-48" dirty="0">
                <a:solidFill>
                  <a:srgbClr val="0E0E0E"/>
                </a:solidFill>
                <a:latin typeface="Literata SemiBold" pitchFamily="34" charset="0"/>
                <a:ea typeface="Literata SemiBold" pitchFamily="34" charset="-122"/>
                <a:cs typeface="Literata SemiBold" pitchFamily="34" charset="-120"/>
              </a:rPr>
              <a:t>The introduction tells readers what this review covers</a:t>
            </a:r>
            <a:endParaRPr lang="en-US" sz="4000" dirty="0"/>
          </a:p>
        </p:txBody>
      </p:sp>
      <p:sp>
        <p:nvSpPr>
          <p:cNvPr id="4" name="Text 2"/>
          <p:cNvSpPr/>
          <p:nvPr/>
        </p:nvSpPr>
        <p:spPr>
          <a:xfrm>
            <a:off x="761981" y="2510631"/>
            <a:ext cx="7238819"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A good introduction gives readers a map before they enter the chapter.</a:t>
            </a:r>
            <a:endParaRPr lang="en-US" sz="1900" dirty="0"/>
          </a:p>
        </p:txBody>
      </p:sp>
      <p:sp>
        <p:nvSpPr>
          <p:cNvPr id="5" name="Shape 3"/>
          <p:cNvSpPr/>
          <p:nvPr/>
        </p:nvSpPr>
        <p:spPr>
          <a:xfrm>
            <a:off x="761981" y="3453209"/>
            <a:ext cx="5181470" cy="2375793"/>
          </a:xfrm>
          <a:prstGeom prst="roundRect">
            <a:avLst>
              <a:gd name="adj" fmla="val 481"/>
            </a:avLst>
          </a:prstGeom>
          <a:solidFill>
            <a:srgbClr val="ECE9DF"/>
          </a:solidFill>
          <a:ln/>
        </p:spPr>
      </p:sp>
      <p:sp>
        <p:nvSpPr>
          <p:cNvPr id="6" name="Text 4"/>
          <p:cNvSpPr/>
          <p:nvPr/>
        </p:nvSpPr>
        <p:spPr>
          <a:xfrm>
            <a:off x="990575" y="3681809"/>
            <a:ext cx="4724282" cy="396180"/>
          </a:xfrm>
          <a:prstGeom prst="rect">
            <a:avLst/>
          </a:prstGeom>
          <a:noFill/>
          <a:ln/>
        </p:spPr>
        <p:txBody>
          <a:bodyPr wrap="none" lIns="0" tIns="0" rIns="0" bIns="0" rtlCol="0" anchor="t"/>
          <a:lstStyle/>
          <a:p>
            <a:pPr marL="0" indent="0" algn="l">
              <a:lnSpc>
                <a:spcPct val="108000"/>
              </a:lnSpc>
              <a:buNone/>
            </a:pPr>
            <a:r>
              <a:rPr lang="en-US" sz="2400" dirty="0">
                <a:solidFill>
                  <a:srgbClr val="0E0E0E"/>
                </a:solidFill>
                <a:latin typeface="Noto Sans" pitchFamily="34" charset="0"/>
                <a:ea typeface="Noto Sans" pitchFamily="34" charset="-122"/>
                <a:cs typeface="Noto Sans" pitchFamily="34" charset="-120"/>
              </a:rPr>
              <a:t>Set the direction</a:t>
            </a:r>
            <a:endParaRPr lang="en-US" sz="2400" dirty="0"/>
          </a:p>
        </p:txBody>
      </p:sp>
      <p:sp>
        <p:nvSpPr>
          <p:cNvPr id="7" name="Text 5"/>
          <p:cNvSpPr/>
          <p:nvPr/>
        </p:nvSpPr>
        <p:spPr>
          <a:xfrm>
            <a:off x="990575" y="4249440"/>
            <a:ext cx="4724282" cy="1013222"/>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Give a brief overview of the chapter. State the topic and purpose so readers know why this review matters.</a:t>
            </a:r>
            <a:endParaRPr lang="en-US" sz="1900" dirty="0"/>
          </a:p>
        </p:txBody>
      </p:sp>
      <p:sp>
        <p:nvSpPr>
          <p:cNvPr id="8" name="Shape 6"/>
          <p:cNvSpPr/>
          <p:nvPr/>
        </p:nvSpPr>
        <p:spPr>
          <a:xfrm>
            <a:off x="6248244" y="3453209"/>
            <a:ext cx="5181470" cy="2375793"/>
          </a:xfrm>
          <a:prstGeom prst="roundRect">
            <a:avLst>
              <a:gd name="adj" fmla="val 481"/>
            </a:avLst>
          </a:prstGeom>
          <a:solidFill>
            <a:srgbClr val="ECE9DF"/>
          </a:solidFill>
          <a:ln/>
        </p:spPr>
      </p:sp>
      <p:sp>
        <p:nvSpPr>
          <p:cNvPr id="9" name="Text 7"/>
          <p:cNvSpPr/>
          <p:nvPr/>
        </p:nvSpPr>
        <p:spPr>
          <a:xfrm>
            <a:off x="6476838" y="3681809"/>
            <a:ext cx="4724282" cy="396180"/>
          </a:xfrm>
          <a:prstGeom prst="rect">
            <a:avLst/>
          </a:prstGeom>
          <a:noFill/>
          <a:ln/>
        </p:spPr>
        <p:txBody>
          <a:bodyPr wrap="none" lIns="0" tIns="0" rIns="0" bIns="0" rtlCol="0" anchor="t"/>
          <a:lstStyle/>
          <a:p>
            <a:pPr marL="0" indent="0" algn="l">
              <a:lnSpc>
                <a:spcPct val="108000"/>
              </a:lnSpc>
              <a:buNone/>
            </a:pPr>
            <a:r>
              <a:rPr lang="en-US" sz="2400" dirty="0">
                <a:solidFill>
                  <a:srgbClr val="0E0E0E"/>
                </a:solidFill>
                <a:latin typeface="Noto Sans" pitchFamily="34" charset="0"/>
                <a:ea typeface="Noto Sans" pitchFamily="34" charset="-122"/>
                <a:cs typeface="Noto Sans" pitchFamily="34" charset="-120"/>
              </a:rPr>
              <a:t>Draw the boundary</a:t>
            </a:r>
            <a:endParaRPr lang="en-US" sz="2400" dirty="0"/>
          </a:p>
        </p:txBody>
      </p:sp>
      <p:sp>
        <p:nvSpPr>
          <p:cNvPr id="10" name="Text 8"/>
          <p:cNvSpPr/>
          <p:nvPr/>
        </p:nvSpPr>
        <p:spPr>
          <a:xfrm>
            <a:off x="6476838" y="4249440"/>
            <a:ext cx="4724282" cy="1350962"/>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Define the scope: what the review includes. Explain how the chapter is organized so readers know what comes next.</a:t>
            </a:r>
            <a:endParaRPr lang="en-US" sz="1900" dirty="0"/>
          </a:p>
        </p:txBody>
      </p:sp>
      <p:pic>
        <p:nvPicPr>
          <p:cNvPr id="12" name="Picture 11">
            <a:extLst>
              <a:ext uri="{FF2B5EF4-FFF2-40B4-BE49-F238E27FC236}">
                <a16:creationId xmlns:a16="http://schemas.microsoft.com/office/drawing/2014/main" id="{657FE69B-103F-2B32-850B-1A639D5348F9}"/>
              </a:ext>
            </a:extLst>
          </p:cNvPr>
          <p:cNvPicPr>
            <a:picLocks noChangeAspect="1"/>
          </p:cNvPicPr>
          <p:nvPr/>
        </p:nvPicPr>
        <p:blipFill>
          <a:blip r:embed="rId3"/>
          <a:stretch>
            <a:fillRect/>
          </a:stretch>
        </p:blipFill>
        <p:spPr>
          <a:xfrm>
            <a:off x="8829206" y="6072111"/>
            <a:ext cx="3362794" cy="7858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1981" y="762000"/>
            <a:ext cx="11277318"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PART 2 · THEORETICAL BACKGROUND</a:t>
            </a:r>
            <a:endParaRPr lang="en-US" sz="1600" dirty="0"/>
          </a:p>
        </p:txBody>
      </p:sp>
      <p:sp>
        <p:nvSpPr>
          <p:cNvPr id="3" name="Text 1"/>
          <p:cNvSpPr/>
          <p:nvPr/>
        </p:nvSpPr>
        <p:spPr>
          <a:xfrm>
            <a:off x="761981" y="1134666"/>
            <a:ext cx="10159746" cy="1137841"/>
          </a:xfrm>
          <a:prstGeom prst="rect">
            <a:avLst/>
          </a:prstGeom>
          <a:noFill/>
          <a:ln/>
        </p:spPr>
        <p:txBody>
          <a:bodyPr wrap="square" lIns="0" tIns="0" rIns="0" bIns="0" rtlCol="0" anchor="t">
            <a:normAutofit/>
          </a:bodyPr>
          <a:lstStyle/>
          <a:p>
            <a:pPr marL="0" indent="0" algn="l">
              <a:lnSpc>
                <a:spcPct val="93000"/>
              </a:lnSpc>
              <a:buNone/>
            </a:pPr>
            <a:r>
              <a:rPr lang="en-US" sz="4000" kern="0" spc="-48" dirty="0">
                <a:solidFill>
                  <a:srgbClr val="0E0E0E"/>
                </a:solidFill>
                <a:latin typeface="Literata SemiBold" pitchFamily="34" charset="0"/>
                <a:ea typeface="Literata SemiBold" pitchFamily="34" charset="-122"/>
                <a:cs typeface="Literata SemiBold" pitchFamily="34" charset="-120"/>
              </a:rPr>
              <a:t>Theoretical background explains the ideas behind the topic</a:t>
            </a:r>
            <a:endParaRPr lang="en-US" sz="4000" dirty="0"/>
          </a:p>
        </p:txBody>
      </p:sp>
      <p:sp>
        <p:nvSpPr>
          <p:cNvPr id="4" name="Text 2"/>
          <p:cNvSpPr/>
          <p:nvPr/>
        </p:nvSpPr>
        <p:spPr>
          <a:xfrm>
            <a:off x="761981" y="2510631"/>
            <a:ext cx="7238819"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Move from shared language to the ideas and models that help explain the research topic.</a:t>
            </a:r>
            <a:endParaRPr lang="en-US" sz="1900" dirty="0"/>
          </a:p>
        </p:txBody>
      </p:sp>
      <p:sp>
        <p:nvSpPr>
          <p:cNvPr id="5" name="Shape 3"/>
          <p:cNvSpPr/>
          <p:nvPr/>
        </p:nvSpPr>
        <p:spPr>
          <a:xfrm>
            <a:off x="761981" y="3402013"/>
            <a:ext cx="2324042" cy="38100"/>
          </a:xfrm>
          <a:prstGeom prst="rect">
            <a:avLst/>
          </a:prstGeom>
          <a:solidFill>
            <a:srgbClr val="2B4A6F"/>
          </a:solidFill>
          <a:ln/>
        </p:spPr>
      </p:sp>
      <p:sp>
        <p:nvSpPr>
          <p:cNvPr id="6" name="Text 4"/>
          <p:cNvSpPr/>
          <p:nvPr/>
        </p:nvSpPr>
        <p:spPr>
          <a:xfrm>
            <a:off x="761981" y="3668713"/>
            <a:ext cx="2324042"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01</a:t>
            </a:r>
            <a:endParaRPr lang="en-US" sz="1600" dirty="0"/>
          </a:p>
        </p:txBody>
      </p:sp>
      <p:sp>
        <p:nvSpPr>
          <p:cNvPr id="7" name="Text 5"/>
          <p:cNvSpPr/>
          <p:nvPr/>
        </p:nvSpPr>
        <p:spPr>
          <a:xfrm>
            <a:off x="761981" y="4041378"/>
            <a:ext cx="2324042" cy="396180"/>
          </a:xfrm>
          <a:prstGeom prst="rect">
            <a:avLst/>
          </a:prstGeom>
          <a:noFill/>
          <a:ln/>
        </p:spPr>
        <p:txBody>
          <a:bodyPr wrap="none" lIns="0" tIns="0" rIns="0" bIns="0" rtlCol="0" anchor="t"/>
          <a:lstStyle/>
          <a:p>
            <a:pPr marL="0" indent="0" algn="l">
              <a:lnSpc>
                <a:spcPct val="108000"/>
              </a:lnSpc>
              <a:buNone/>
            </a:pPr>
            <a:r>
              <a:rPr lang="en-US" sz="2400" dirty="0">
                <a:solidFill>
                  <a:srgbClr val="0E0E0E"/>
                </a:solidFill>
                <a:latin typeface="Noto Sans" pitchFamily="34" charset="0"/>
                <a:ea typeface="Noto Sans" pitchFamily="34" charset="-122"/>
                <a:cs typeface="Noto Sans" pitchFamily="34" charset="-120"/>
              </a:rPr>
              <a:t>Definitions</a:t>
            </a:r>
            <a:endParaRPr lang="en-US" sz="2400" dirty="0"/>
          </a:p>
        </p:txBody>
      </p:sp>
      <p:sp>
        <p:nvSpPr>
          <p:cNvPr id="8" name="Text 6"/>
          <p:cNvSpPr/>
          <p:nvPr/>
        </p:nvSpPr>
        <p:spPr>
          <a:xfrm>
            <a:off x="761981" y="4609009"/>
            <a:ext cx="2324042" cy="1013222"/>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Clarify important terms readers need to understand.</a:t>
            </a:r>
            <a:endParaRPr lang="en-US" sz="1900" dirty="0"/>
          </a:p>
        </p:txBody>
      </p:sp>
      <p:sp>
        <p:nvSpPr>
          <p:cNvPr id="9" name="Shape 7"/>
          <p:cNvSpPr/>
          <p:nvPr/>
        </p:nvSpPr>
        <p:spPr>
          <a:xfrm>
            <a:off x="3543211" y="3402013"/>
            <a:ext cx="2324042" cy="38100"/>
          </a:xfrm>
          <a:prstGeom prst="rect">
            <a:avLst/>
          </a:prstGeom>
          <a:solidFill>
            <a:srgbClr val="2B4A6F"/>
          </a:solidFill>
          <a:ln/>
        </p:spPr>
      </p:sp>
      <p:sp>
        <p:nvSpPr>
          <p:cNvPr id="10" name="Text 8"/>
          <p:cNvSpPr/>
          <p:nvPr/>
        </p:nvSpPr>
        <p:spPr>
          <a:xfrm>
            <a:off x="3543211" y="3668713"/>
            <a:ext cx="2324042"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02</a:t>
            </a:r>
            <a:endParaRPr lang="en-US" sz="1600" dirty="0"/>
          </a:p>
        </p:txBody>
      </p:sp>
      <p:sp>
        <p:nvSpPr>
          <p:cNvPr id="11" name="Text 9"/>
          <p:cNvSpPr/>
          <p:nvPr/>
        </p:nvSpPr>
        <p:spPr>
          <a:xfrm>
            <a:off x="3543211" y="4041378"/>
            <a:ext cx="2324042" cy="396180"/>
          </a:xfrm>
          <a:prstGeom prst="rect">
            <a:avLst/>
          </a:prstGeom>
          <a:noFill/>
          <a:ln/>
        </p:spPr>
        <p:txBody>
          <a:bodyPr wrap="none" lIns="0" tIns="0" rIns="0" bIns="0" rtlCol="0" anchor="t"/>
          <a:lstStyle/>
          <a:p>
            <a:pPr marL="0" indent="0" algn="l">
              <a:lnSpc>
                <a:spcPct val="108000"/>
              </a:lnSpc>
              <a:buNone/>
            </a:pPr>
            <a:r>
              <a:rPr lang="en-US" sz="2400" dirty="0">
                <a:solidFill>
                  <a:srgbClr val="0E0E0E"/>
                </a:solidFill>
                <a:latin typeface="Noto Sans" pitchFamily="34" charset="0"/>
                <a:ea typeface="Noto Sans" pitchFamily="34" charset="-122"/>
                <a:cs typeface="Noto Sans" pitchFamily="34" charset="-120"/>
              </a:rPr>
              <a:t>Theories</a:t>
            </a:r>
            <a:endParaRPr lang="en-US" sz="2400" dirty="0"/>
          </a:p>
        </p:txBody>
      </p:sp>
      <p:sp>
        <p:nvSpPr>
          <p:cNvPr id="12" name="Text 10"/>
          <p:cNvSpPr/>
          <p:nvPr/>
        </p:nvSpPr>
        <p:spPr>
          <a:xfrm>
            <a:off x="3543211" y="4609009"/>
            <a:ext cx="2324042" cy="1350962"/>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Introduce the key theories and concepts linked to the topic.</a:t>
            </a:r>
            <a:endParaRPr lang="en-US" sz="1900" dirty="0"/>
          </a:p>
        </p:txBody>
      </p:sp>
      <p:sp>
        <p:nvSpPr>
          <p:cNvPr id="13" name="Shape 11"/>
          <p:cNvSpPr/>
          <p:nvPr/>
        </p:nvSpPr>
        <p:spPr>
          <a:xfrm>
            <a:off x="6324442" y="3402013"/>
            <a:ext cx="2324042" cy="38100"/>
          </a:xfrm>
          <a:prstGeom prst="rect">
            <a:avLst/>
          </a:prstGeom>
          <a:solidFill>
            <a:srgbClr val="2B4A6F"/>
          </a:solidFill>
          <a:ln/>
        </p:spPr>
      </p:sp>
      <p:sp>
        <p:nvSpPr>
          <p:cNvPr id="14" name="Text 12"/>
          <p:cNvSpPr/>
          <p:nvPr/>
        </p:nvSpPr>
        <p:spPr>
          <a:xfrm>
            <a:off x="6324442" y="3668713"/>
            <a:ext cx="2324042"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03</a:t>
            </a:r>
            <a:endParaRPr lang="en-US" sz="1600" dirty="0"/>
          </a:p>
        </p:txBody>
      </p:sp>
      <p:sp>
        <p:nvSpPr>
          <p:cNvPr id="15" name="Text 13"/>
          <p:cNvSpPr/>
          <p:nvPr/>
        </p:nvSpPr>
        <p:spPr>
          <a:xfrm>
            <a:off x="6324442" y="4041378"/>
            <a:ext cx="2324042" cy="396180"/>
          </a:xfrm>
          <a:prstGeom prst="rect">
            <a:avLst/>
          </a:prstGeom>
          <a:noFill/>
          <a:ln/>
        </p:spPr>
        <p:txBody>
          <a:bodyPr wrap="none" lIns="0" tIns="0" rIns="0" bIns="0" rtlCol="0" anchor="t"/>
          <a:lstStyle/>
          <a:p>
            <a:pPr marL="0" indent="0" algn="l">
              <a:lnSpc>
                <a:spcPct val="108000"/>
              </a:lnSpc>
              <a:buNone/>
            </a:pPr>
            <a:r>
              <a:rPr lang="en-US" sz="2400" dirty="0">
                <a:solidFill>
                  <a:srgbClr val="0E0E0E"/>
                </a:solidFill>
                <a:latin typeface="Noto Sans" pitchFamily="34" charset="0"/>
                <a:ea typeface="Noto Sans" pitchFamily="34" charset="-122"/>
                <a:cs typeface="Noto Sans" pitchFamily="34" charset="-120"/>
              </a:rPr>
              <a:t>Models</a:t>
            </a:r>
            <a:endParaRPr lang="en-US" sz="2400" dirty="0"/>
          </a:p>
        </p:txBody>
      </p:sp>
      <p:sp>
        <p:nvSpPr>
          <p:cNvPr id="16" name="Text 14"/>
          <p:cNvSpPr/>
          <p:nvPr/>
        </p:nvSpPr>
        <p:spPr>
          <a:xfrm>
            <a:off x="6324442" y="4609009"/>
            <a:ext cx="2324042" cy="1013222"/>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Describe useful models or frameworks.</a:t>
            </a:r>
            <a:endParaRPr lang="en-US" sz="1900" dirty="0"/>
          </a:p>
        </p:txBody>
      </p:sp>
      <p:sp>
        <p:nvSpPr>
          <p:cNvPr id="17" name="Shape 15"/>
          <p:cNvSpPr/>
          <p:nvPr/>
        </p:nvSpPr>
        <p:spPr>
          <a:xfrm>
            <a:off x="9105672" y="3402013"/>
            <a:ext cx="2324042" cy="38100"/>
          </a:xfrm>
          <a:prstGeom prst="rect">
            <a:avLst/>
          </a:prstGeom>
          <a:solidFill>
            <a:srgbClr val="2B4A6F"/>
          </a:solidFill>
          <a:ln/>
        </p:spPr>
      </p:sp>
      <p:sp>
        <p:nvSpPr>
          <p:cNvPr id="18" name="Text 16"/>
          <p:cNvSpPr/>
          <p:nvPr/>
        </p:nvSpPr>
        <p:spPr>
          <a:xfrm>
            <a:off x="9105672" y="3668713"/>
            <a:ext cx="2324042"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04</a:t>
            </a:r>
            <a:endParaRPr lang="en-US" sz="1600" dirty="0"/>
          </a:p>
        </p:txBody>
      </p:sp>
      <p:sp>
        <p:nvSpPr>
          <p:cNvPr id="19" name="Text 17"/>
          <p:cNvSpPr/>
          <p:nvPr/>
        </p:nvSpPr>
        <p:spPr>
          <a:xfrm>
            <a:off x="9105672" y="4041378"/>
            <a:ext cx="2324042" cy="396180"/>
          </a:xfrm>
          <a:prstGeom prst="rect">
            <a:avLst/>
          </a:prstGeom>
          <a:noFill/>
          <a:ln/>
        </p:spPr>
        <p:txBody>
          <a:bodyPr wrap="none" lIns="0" tIns="0" rIns="0" bIns="0" rtlCol="0" anchor="t"/>
          <a:lstStyle/>
          <a:p>
            <a:pPr marL="0" indent="0" algn="l">
              <a:lnSpc>
                <a:spcPct val="108000"/>
              </a:lnSpc>
              <a:buNone/>
            </a:pPr>
            <a:r>
              <a:rPr lang="en-US" sz="2400" dirty="0">
                <a:solidFill>
                  <a:srgbClr val="0E0E0E"/>
                </a:solidFill>
                <a:latin typeface="Noto Sans" pitchFamily="34" charset="0"/>
                <a:ea typeface="Noto Sans" pitchFamily="34" charset="-122"/>
                <a:cs typeface="Noto Sans" pitchFamily="34" charset="-120"/>
              </a:rPr>
              <a:t>Connection</a:t>
            </a:r>
            <a:endParaRPr lang="en-US" sz="2400" dirty="0"/>
          </a:p>
        </p:txBody>
      </p:sp>
      <p:sp>
        <p:nvSpPr>
          <p:cNvPr id="20" name="Text 18"/>
          <p:cNvSpPr/>
          <p:nvPr/>
        </p:nvSpPr>
        <p:spPr>
          <a:xfrm>
            <a:off x="9105672" y="4609009"/>
            <a:ext cx="2324042" cy="1013222"/>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Show how these ideas relate to the research topic.</a:t>
            </a:r>
            <a:endParaRPr lang="en-US" sz="1900" dirty="0"/>
          </a:p>
        </p:txBody>
      </p:sp>
      <p:pic>
        <p:nvPicPr>
          <p:cNvPr id="22" name="Picture 21">
            <a:extLst>
              <a:ext uri="{FF2B5EF4-FFF2-40B4-BE49-F238E27FC236}">
                <a16:creationId xmlns:a16="http://schemas.microsoft.com/office/drawing/2014/main" id="{E47E227A-2A61-57A7-F71E-8BC7153F4A62}"/>
              </a:ext>
            </a:extLst>
          </p:cNvPr>
          <p:cNvPicPr>
            <a:picLocks noChangeAspect="1"/>
          </p:cNvPicPr>
          <p:nvPr/>
        </p:nvPicPr>
        <p:blipFill>
          <a:blip r:embed="rId3"/>
          <a:stretch>
            <a:fillRect/>
          </a:stretch>
        </p:blipFill>
        <p:spPr>
          <a:xfrm>
            <a:off x="8829206" y="5771998"/>
            <a:ext cx="3362794" cy="10860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1981" y="762000"/>
            <a:ext cx="11277318" cy="196155"/>
          </a:xfrm>
          <a:prstGeom prst="rect">
            <a:avLst/>
          </a:prstGeom>
          <a:noFill/>
          <a:ln/>
        </p:spPr>
        <p:txBody>
          <a:bodyPr wrap="none" lIns="0" tIns="0" rIns="0" bIns="0" rtlCol="0" anchor="t"/>
          <a:lstStyle/>
          <a:p>
            <a:pPr marL="0" indent="0" algn="l">
              <a:lnSpc>
                <a:spcPct val="113000"/>
              </a:lnSpc>
              <a:buNone/>
            </a:pPr>
            <a:r>
              <a:rPr lang="en-US" sz="1150" kern="0" spc="23" dirty="0">
                <a:solidFill>
                  <a:srgbClr val="57574F"/>
                </a:solidFill>
                <a:latin typeface="Noto Sans Medium" pitchFamily="34" charset="0"/>
                <a:ea typeface="Noto Sans Medium" pitchFamily="34" charset="-122"/>
                <a:cs typeface="Noto Sans Medium" pitchFamily="34" charset="-120"/>
              </a:rPr>
              <a:t>PART 3 · RELATED WORK</a:t>
            </a:r>
            <a:endParaRPr lang="en-US" sz="1150" dirty="0"/>
          </a:p>
        </p:txBody>
      </p:sp>
      <p:sp>
        <p:nvSpPr>
          <p:cNvPr id="3" name="Text 1"/>
          <p:cNvSpPr/>
          <p:nvPr/>
        </p:nvSpPr>
        <p:spPr>
          <a:xfrm>
            <a:off x="761981" y="1008459"/>
            <a:ext cx="7268782" cy="813991"/>
          </a:xfrm>
          <a:prstGeom prst="rect">
            <a:avLst/>
          </a:prstGeom>
          <a:noFill/>
          <a:ln/>
        </p:spPr>
        <p:txBody>
          <a:bodyPr wrap="square" lIns="0" tIns="0" rIns="0" bIns="0" rtlCol="0" anchor="t">
            <a:normAutofit/>
          </a:bodyPr>
          <a:lstStyle/>
          <a:p>
            <a:pPr marL="0" indent="0" algn="l">
              <a:lnSpc>
                <a:spcPct val="93000"/>
              </a:lnSpc>
              <a:buNone/>
            </a:pPr>
            <a:r>
              <a:rPr lang="en-US" sz="2850" kern="0" spc="-34" dirty="0">
                <a:solidFill>
                  <a:srgbClr val="0E0E0E"/>
                </a:solidFill>
                <a:latin typeface="Literata SemiBold" pitchFamily="34" charset="0"/>
                <a:ea typeface="Literata SemiBold" pitchFamily="34" charset="-122"/>
                <a:cs typeface="Literata SemiBold" pitchFamily="34" charset="-120"/>
              </a:rPr>
              <a:t>Related work shows what other researchers have done</a:t>
            </a:r>
            <a:endParaRPr lang="en-US" sz="2850" dirty="0"/>
          </a:p>
        </p:txBody>
      </p:sp>
      <p:sp>
        <p:nvSpPr>
          <p:cNvPr id="4" name="Text 2"/>
          <p:cNvSpPr/>
          <p:nvPr/>
        </p:nvSpPr>
        <p:spPr>
          <a:xfrm>
            <a:off x="761981" y="1944291"/>
            <a:ext cx="4361249" cy="392311"/>
          </a:xfrm>
          <a:prstGeom prst="rect">
            <a:avLst/>
          </a:prstGeom>
          <a:noFill/>
          <a:ln/>
        </p:spPr>
        <p:txBody>
          <a:bodyPr wrap="square" lIns="0" tIns="0" rIns="0" bIns="0" rtlCol="0" anchor="t">
            <a:normAutofit/>
          </a:bodyPr>
          <a:lstStyle/>
          <a:p>
            <a:pPr marL="0" indent="0" algn="l">
              <a:lnSpc>
                <a:spcPct val="113000"/>
              </a:lnSpc>
              <a:buNone/>
            </a:pPr>
            <a:r>
              <a:rPr lang="en-US" sz="1150" dirty="0">
                <a:solidFill>
                  <a:srgbClr val="57574F"/>
                </a:solidFill>
                <a:latin typeface="Noto Sans" pitchFamily="34" charset="0"/>
                <a:ea typeface="Noto Sans" pitchFamily="34" charset="-122"/>
                <a:cs typeface="Noto Sans" pitchFamily="34" charset="-120"/>
              </a:rPr>
              <a:t>Compare each study across the same questions to make its contribution and limits clear.</a:t>
            </a:r>
            <a:endParaRPr lang="en-US" sz="1150" dirty="0"/>
          </a:p>
        </p:txBody>
      </p:sp>
      <p:pic>
        <p:nvPicPr>
          <p:cNvPr id="5" name="Image 0" descr="preencoded.png"/>
          <p:cNvPicPr>
            <a:picLocks noChangeAspect="1"/>
          </p:cNvPicPr>
          <p:nvPr/>
        </p:nvPicPr>
        <p:blipFill>
          <a:blip r:embed="rId3"/>
          <a:stretch>
            <a:fillRect/>
          </a:stretch>
        </p:blipFill>
        <p:spPr>
          <a:xfrm>
            <a:off x="761981" y="2548930"/>
            <a:ext cx="345173" cy="345182"/>
          </a:xfrm>
          <a:prstGeom prst="rect">
            <a:avLst/>
          </a:prstGeom>
        </p:spPr>
      </p:pic>
      <p:sp>
        <p:nvSpPr>
          <p:cNvPr id="6" name="Text 3"/>
          <p:cNvSpPr/>
          <p:nvPr/>
        </p:nvSpPr>
        <p:spPr>
          <a:xfrm>
            <a:off x="1244569" y="2599432"/>
            <a:ext cx="10185145" cy="283468"/>
          </a:xfrm>
          <a:prstGeom prst="rect">
            <a:avLst/>
          </a:prstGeom>
          <a:noFill/>
          <a:ln/>
        </p:spPr>
        <p:txBody>
          <a:bodyPr wrap="none" lIns="0" tIns="0" rIns="0" bIns="0" rtlCol="0" anchor="t"/>
          <a:lstStyle/>
          <a:p>
            <a:pPr marL="0" indent="0" algn="l">
              <a:lnSpc>
                <a:spcPct val="108000"/>
              </a:lnSpc>
              <a:buNone/>
            </a:pPr>
            <a:r>
              <a:rPr lang="en-US" sz="1700" dirty="0">
                <a:solidFill>
                  <a:srgbClr val="0E0E0E"/>
                </a:solidFill>
                <a:latin typeface="Noto Sans" pitchFamily="34" charset="0"/>
                <a:ea typeface="Noto Sans" pitchFamily="34" charset="-122"/>
                <a:cs typeface="Noto Sans" pitchFamily="34" charset="-120"/>
              </a:rPr>
              <a:t>Problem and question</a:t>
            </a:r>
            <a:endParaRPr lang="en-US" sz="1700" dirty="0"/>
          </a:p>
        </p:txBody>
      </p:sp>
      <p:sp>
        <p:nvSpPr>
          <p:cNvPr id="7" name="Text 4"/>
          <p:cNvSpPr/>
          <p:nvPr/>
        </p:nvSpPr>
        <p:spPr>
          <a:xfrm>
            <a:off x="1244569" y="2970609"/>
            <a:ext cx="10185145" cy="207268"/>
          </a:xfrm>
          <a:prstGeom prst="rect">
            <a:avLst/>
          </a:prstGeom>
          <a:noFill/>
          <a:ln/>
        </p:spPr>
        <p:txBody>
          <a:bodyPr wrap="none" lIns="0" tIns="0" rIns="0" bIns="0" rtlCol="0" anchor="t"/>
          <a:lstStyle/>
          <a:p>
            <a:pPr marL="0" indent="0" algn="l">
              <a:lnSpc>
                <a:spcPct val="100000"/>
              </a:lnSpc>
              <a:buNone/>
            </a:pPr>
            <a:r>
              <a:rPr lang="en-US" sz="1350" dirty="0">
                <a:solidFill>
                  <a:srgbClr val="141414"/>
                </a:solidFill>
                <a:latin typeface="Noto Sans" pitchFamily="34" charset="0"/>
                <a:ea typeface="Noto Sans" pitchFamily="34" charset="-122"/>
                <a:cs typeface="Noto Sans" pitchFamily="34" charset="-120"/>
              </a:rPr>
              <a:t>What issue did the study examine?</a:t>
            </a:r>
            <a:endParaRPr lang="en-US" sz="1350" dirty="0"/>
          </a:p>
        </p:txBody>
      </p:sp>
      <p:pic>
        <p:nvPicPr>
          <p:cNvPr id="8" name="Image 1" descr="preencoded.png"/>
          <p:cNvPicPr>
            <a:picLocks noChangeAspect="1"/>
          </p:cNvPicPr>
          <p:nvPr/>
        </p:nvPicPr>
        <p:blipFill>
          <a:blip r:embed="rId4"/>
          <a:stretch>
            <a:fillRect/>
          </a:stretch>
        </p:blipFill>
        <p:spPr>
          <a:xfrm>
            <a:off x="761981" y="3432175"/>
            <a:ext cx="345173" cy="345182"/>
          </a:xfrm>
          <a:prstGeom prst="rect">
            <a:avLst/>
          </a:prstGeom>
        </p:spPr>
      </p:pic>
      <p:sp>
        <p:nvSpPr>
          <p:cNvPr id="9" name="Text 5"/>
          <p:cNvSpPr/>
          <p:nvPr/>
        </p:nvSpPr>
        <p:spPr>
          <a:xfrm>
            <a:off x="1244569" y="3482677"/>
            <a:ext cx="10185145" cy="283468"/>
          </a:xfrm>
          <a:prstGeom prst="rect">
            <a:avLst/>
          </a:prstGeom>
          <a:noFill/>
          <a:ln/>
        </p:spPr>
        <p:txBody>
          <a:bodyPr wrap="none" lIns="0" tIns="0" rIns="0" bIns="0" rtlCol="0" anchor="t"/>
          <a:lstStyle/>
          <a:p>
            <a:pPr marL="0" indent="0" algn="l">
              <a:lnSpc>
                <a:spcPct val="108000"/>
              </a:lnSpc>
              <a:buNone/>
            </a:pPr>
            <a:r>
              <a:rPr lang="en-US" sz="1700" dirty="0">
                <a:solidFill>
                  <a:srgbClr val="0E0E0E"/>
                </a:solidFill>
                <a:latin typeface="Noto Sans" pitchFamily="34" charset="0"/>
                <a:ea typeface="Noto Sans" pitchFamily="34" charset="-122"/>
                <a:cs typeface="Noto Sans" pitchFamily="34" charset="-120"/>
              </a:rPr>
              <a:t>Method</a:t>
            </a:r>
            <a:endParaRPr lang="en-US" sz="1700" dirty="0"/>
          </a:p>
        </p:txBody>
      </p:sp>
      <p:sp>
        <p:nvSpPr>
          <p:cNvPr id="10" name="Text 6"/>
          <p:cNvSpPr/>
          <p:nvPr/>
        </p:nvSpPr>
        <p:spPr>
          <a:xfrm>
            <a:off x="1244569" y="3853855"/>
            <a:ext cx="10185145" cy="207268"/>
          </a:xfrm>
          <a:prstGeom prst="rect">
            <a:avLst/>
          </a:prstGeom>
          <a:noFill/>
          <a:ln/>
        </p:spPr>
        <p:txBody>
          <a:bodyPr wrap="none" lIns="0" tIns="0" rIns="0" bIns="0" rtlCol="0" anchor="t"/>
          <a:lstStyle/>
          <a:p>
            <a:pPr marL="0" indent="0" algn="l">
              <a:lnSpc>
                <a:spcPct val="100000"/>
              </a:lnSpc>
              <a:buNone/>
            </a:pPr>
            <a:r>
              <a:rPr lang="en-US" sz="1350" dirty="0">
                <a:solidFill>
                  <a:srgbClr val="141414"/>
                </a:solidFill>
                <a:latin typeface="Noto Sans" pitchFamily="34" charset="0"/>
                <a:ea typeface="Noto Sans" pitchFamily="34" charset="-122"/>
                <a:cs typeface="Noto Sans" pitchFamily="34" charset="-120"/>
              </a:rPr>
              <a:t>How did the researchers investigate it?</a:t>
            </a:r>
            <a:endParaRPr lang="en-US" sz="1350" dirty="0"/>
          </a:p>
        </p:txBody>
      </p:sp>
      <p:pic>
        <p:nvPicPr>
          <p:cNvPr id="11" name="Image 2" descr="preencoded.png"/>
          <p:cNvPicPr>
            <a:picLocks noChangeAspect="1"/>
          </p:cNvPicPr>
          <p:nvPr/>
        </p:nvPicPr>
        <p:blipFill>
          <a:blip r:embed="rId5"/>
          <a:stretch>
            <a:fillRect/>
          </a:stretch>
        </p:blipFill>
        <p:spPr>
          <a:xfrm>
            <a:off x="761981" y="4315420"/>
            <a:ext cx="345173" cy="345182"/>
          </a:xfrm>
          <a:prstGeom prst="rect">
            <a:avLst/>
          </a:prstGeom>
        </p:spPr>
      </p:pic>
      <p:sp>
        <p:nvSpPr>
          <p:cNvPr id="12" name="Text 7"/>
          <p:cNvSpPr/>
          <p:nvPr/>
        </p:nvSpPr>
        <p:spPr>
          <a:xfrm>
            <a:off x="1244569" y="4365923"/>
            <a:ext cx="10185145" cy="283468"/>
          </a:xfrm>
          <a:prstGeom prst="rect">
            <a:avLst/>
          </a:prstGeom>
          <a:noFill/>
          <a:ln/>
        </p:spPr>
        <p:txBody>
          <a:bodyPr wrap="none" lIns="0" tIns="0" rIns="0" bIns="0" rtlCol="0" anchor="t"/>
          <a:lstStyle/>
          <a:p>
            <a:pPr marL="0" indent="0" algn="l">
              <a:lnSpc>
                <a:spcPct val="108000"/>
              </a:lnSpc>
              <a:buNone/>
            </a:pPr>
            <a:r>
              <a:rPr lang="en-US" sz="1700" dirty="0">
                <a:solidFill>
                  <a:srgbClr val="0E0E0E"/>
                </a:solidFill>
                <a:latin typeface="Noto Sans" pitchFamily="34" charset="0"/>
                <a:ea typeface="Noto Sans" pitchFamily="34" charset="-122"/>
                <a:cs typeface="Noto Sans" pitchFamily="34" charset="-120"/>
              </a:rPr>
              <a:t>Dataset or study area</a:t>
            </a:r>
            <a:endParaRPr lang="en-US" sz="1700" dirty="0"/>
          </a:p>
        </p:txBody>
      </p:sp>
      <p:sp>
        <p:nvSpPr>
          <p:cNvPr id="13" name="Text 8"/>
          <p:cNvSpPr/>
          <p:nvPr/>
        </p:nvSpPr>
        <p:spPr>
          <a:xfrm>
            <a:off x="1244569" y="4737100"/>
            <a:ext cx="10185145" cy="207268"/>
          </a:xfrm>
          <a:prstGeom prst="rect">
            <a:avLst/>
          </a:prstGeom>
          <a:noFill/>
          <a:ln/>
        </p:spPr>
        <p:txBody>
          <a:bodyPr wrap="none" lIns="0" tIns="0" rIns="0" bIns="0" rtlCol="0" anchor="t"/>
          <a:lstStyle/>
          <a:p>
            <a:pPr marL="0" indent="0" algn="l">
              <a:lnSpc>
                <a:spcPct val="100000"/>
              </a:lnSpc>
              <a:buNone/>
            </a:pPr>
            <a:r>
              <a:rPr lang="en-US" sz="1350" dirty="0">
                <a:solidFill>
                  <a:srgbClr val="141414"/>
                </a:solidFill>
                <a:latin typeface="Noto Sans" pitchFamily="34" charset="0"/>
                <a:ea typeface="Noto Sans" pitchFamily="34" charset="-122"/>
                <a:cs typeface="Noto Sans" pitchFamily="34" charset="-120"/>
              </a:rPr>
              <a:t>What information or setting did they use?</a:t>
            </a:r>
            <a:endParaRPr lang="en-US" sz="1350" dirty="0"/>
          </a:p>
        </p:txBody>
      </p:sp>
      <p:pic>
        <p:nvPicPr>
          <p:cNvPr id="14" name="Image 3" descr="preencoded.png"/>
          <p:cNvPicPr>
            <a:picLocks noChangeAspect="1"/>
          </p:cNvPicPr>
          <p:nvPr/>
        </p:nvPicPr>
        <p:blipFill>
          <a:blip r:embed="rId4"/>
          <a:stretch>
            <a:fillRect/>
          </a:stretch>
        </p:blipFill>
        <p:spPr>
          <a:xfrm>
            <a:off x="761981" y="5198666"/>
            <a:ext cx="345173" cy="345182"/>
          </a:xfrm>
          <a:prstGeom prst="rect">
            <a:avLst/>
          </a:prstGeom>
        </p:spPr>
      </p:pic>
      <p:sp>
        <p:nvSpPr>
          <p:cNvPr id="15" name="Text 9"/>
          <p:cNvSpPr/>
          <p:nvPr/>
        </p:nvSpPr>
        <p:spPr>
          <a:xfrm>
            <a:off x="1244569" y="5249168"/>
            <a:ext cx="10185145" cy="283468"/>
          </a:xfrm>
          <a:prstGeom prst="rect">
            <a:avLst/>
          </a:prstGeom>
          <a:noFill/>
          <a:ln/>
        </p:spPr>
        <p:txBody>
          <a:bodyPr wrap="none" lIns="0" tIns="0" rIns="0" bIns="0" rtlCol="0" anchor="t"/>
          <a:lstStyle/>
          <a:p>
            <a:pPr marL="0" indent="0" algn="l">
              <a:lnSpc>
                <a:spcPct val="108000"/>
              </a:lnSpc>
              <a:buNone/>
            </a:pPr>
            <a:r>
              <a:rPr lang="en-US" sz="1700" dirty="0">
                <a:solidFill>
                  <a:srgbClr val="0E0E0E"/>
                </a:solidFill>
                <a:latin typeface="Noto Sans" pitchFamily="34" charset="0"/>
                <a:ea typeface="Noto Sans" pitchFamily="34" charset="-122"/>
                <a:cs typeface="Noto Sans" pitchFamily="34" charset="-120"/>
              </a:rPr>
              <a:t>Findings</a:t>
            </a:r>
            <a:endParaRPr lang="en-US" sz="1700" dirty="0"/>
          </a:p>
        </p:txBody>
      </p:sp>
      <p:sp>
        <p:nvSpPr>
          <p:cNvPr id="16" name="Text 10"/>
          <p:cNvSpPr/>
          <p:nvPr/>
        </p:nvSpPr>
        <p:spPr>
          <a:xfrm>
            <a:off x="1244569" y="5620345"/>
            <a:ext cx="10185145" cy="207268"/>
          </a:xfrm>
          <a:prstGeom prst="rect">
            <a:avLst/>
          </a:prstGeom>
          <a:noFill/>
          <a:ln/>
        </p:spPr>
        <p:txBody>
          <a:bodyPr wrap="none" lIns="0" tIns="0" rIns="0" bIns="0" rtlCol="0" anchor="t"/>
          <a:lstStyle/>
          <a:p>
            <a:pPr marL="0" indent="0" algn="l">
              <a:lnSpc>
                <a:spcPct val="100000"/>
              </a:lnSpc>
              <a:buNone/>
            </a:pPr>
            <a:r>
              <a:rPr lang="en-US" sz="1350" dirty="0">
                <a:solidFill>
                  <a:srgbClr val="141414"/>
                </a:solidFill>
                <a:latin typeface="Noto Sans" pitchFamily="34" charset="0"/>
                <a:ea typeface="Noto Sans" pitchFamily="34" charset="-122"/>
                <a:cs typeface="Noto Sans" pitchFamily="34" charset="-120"/>
              </a:rPr>
              <a:t>What did the study report?</a:t>
            </a:r>
            <a:endParaRPr lang="en-US" sz="1350" dirty="0"/>
          </a:p>
        </p:txBody>
      </p:sp>
      <p:pic>
        <p:nvPicPr>
          <p:cNvPr id="17" name="Image 4" descr="preencoded.png"/>
          <p:cNvPicPr>
            <a:picLocks noChangeAspect="1"/>
          </p:cNvPicPr>
          <p:nvPr/>
        </p:nvPicPr>
        <p:blipFill>
          <a:blip r:embed="rId4"/>
          <a:stretch>
            <a:fillRect/>
          </a:stretch>
        </p:blipFill>
        <p:spPr>
          <a:xfrm>
            <a:off x="761981" y="6081911"/>
            <a:ext cx="345173" cy="345182"/>
          </a:xfrm>
          <a:prstGeom prst="rect">
            <a:avLst/>
          </a:prstGeom>
        </p:spPr>
      </p:pic>
      <p:sp>
        <p:nvSpPr>
          <p:cNvPr id="18" name="Text 11"/>
          <p:cNvSpPr/>
          <p:nvPr/>
        </p:nvSpPr>
        <p:spPr>
          <a:xfrm>
            <a:off x="1244569" y="6132413"/>
            <a:ext cx="10185145" cy="283468"/>
          </a:xfrm>
          <a:prstGeom prst="rect">
            <a:avLst/>
          </a:prstGeom>
          <a:noFill/>
          <a:ln/>
        </p:spPr>
        <p:txBody>
          <a:bodyPr wrap="none" lIns="0" tIns="0" rIns="0" bIns="0" rtlCol="0" anchor="t"/>
          <a:lstStyle/>
          <a:p>
            <a:pPr marL="0" indent="0" algn="l">
              <a:lnSpc>
                <a:spcPct val="108000"/>
              </a:lnSpc>
              <a:buNone/>
            </a:pPr>
            <a:r>
              <a:rPr lang="en-US" sz="1700" dirty="0">
                <a:solidFill>
                  <a:srgbClr val="0E0E0E"/>
                </a:solidFill>
                <a:latin typeface="Noto Sans" pitchFamily="34" charset="0"/>
                <a:ea typeface="Noto Sans" pitchFamily="34" charset="-122"/>
                <a:cs typeface="Noto Sans" pitchFamily="34" charset="-120"/>
              </a:rPr>
              <a:t>Limitations</a:t>
            </a:r>
            <a:endParaRPr lang="en-US" sz="1700" dirty="0"/>
          </a:p>
        </p:txBody>
      </p:sp>
      <p:sp>
        <p:nvSpPr>
          <p:cNvPr id="19" name="Text 12"/>
          <p:cNvSpPr/>
          <p:nvPr/>
        </p:nvSpPr>
        <p:spPr>
          <a:xfrm>
            <a:off x="1244569" y="6503591"/>
            <a:ext cx="10185145" cy="207268"/>
          </a:xfrm>
          <a:prstGeom prst="rect">
            <a:avLst/>
          </a:prstGeom>
          <a:noFill/>
          <a:ln/>
        </p:spPr>
        <p:txBody>
          <a:bodyPr wrap="none" lIns="0" tIns="0" rIns="0" bIns="0" rtlCol="0" anchor="t"/>
          <a:lstStyle/>
          <a:p>
            <a:pPr marL="0" indent="0" algn="l">
              <a:lnSpc>
                <a:spcPct val="100000"/>
              </a:lnSpc>
              <a:buNone/>
            </a:pPr>
            <a:r>
              <a:rPr lang="en-US" sz="1350" dirty="0">
                <a:solidFill>
                  <a:srgbClr val="141414"/>
                </a:solidFill>
                <a:latin typeface="Noto Sans" pitchFamily="34" charset="0"/>
                <a:ea typeface="Noto Sans" pitchFamily="34" charset="-122"/>
                <a:cs typeface="Noto Sans" pitchFamily="34" charset="-120"/>
              </a:rPr>
              <a:t>What could the study not answer?</a:t>
            </a:r>
            <a:endParaRPr lang="en-US" sz="1350" dirty="0"/>
          </a:p>
        </p:txBody>
      </p:sp>
      <p:sp>
        <p:nvSpPr>
          <p:cNvPr id="20" name="Shape 13"/>
          <p:cNvSpPr/>
          <p:nvPr/>
        </p:nvSpPr>
        <p:spPr>
          <a:xfrm>
            <a:off x="761981" y="3323927"/>
            <a:ext cx="10667733" cy="12700"/>
          </a:xfrm>
          <a:prstGeom prst="rect">
            <a:avLst/>
          </a:prstGeom>
          <a:solidFill>
            <a:srgbClr val="C4C3BB"/>
          </a:solidFill>
          <a:ln/>
        </p:spPr>
      </p:sp>
      <p:sp>
        <p:nvSpPr>
          <p:cNvPr id="21" name="Shape 14"/>
          <p:cNvSpPr/>
          <p:nvPr/>
        </p:nvSpPr>
        <p:spPr>
          <a:xfrm>
            <a:off x="761981" y="4207173"/>
            <a:ext cx="10667733" cy="12700"/>
          </a:xfrm>
          <a:prstGeom prst="rect">
            <a:avLst/>
          </a:prstGeom>
          <a:solidFill>
            <a:srgbClr val="C4C3BB"/>
          </a:solidFill>
          <a:ln/>
        </p:spPr>
      </p:sp>
      <p:sp>
        <p:nvSpPr>
          <p:cNvPr id="22" name="Shape 15"/>
          <p:cNvSpPr/>
          <p:nvPr/>
        </p:nvSpPr>
        <p:spPr>
          <a:xfrm>
            <a:off x="761981" y="5090418"/>
            <a:ext cx="10667733" cy="12700"/>
          </a:xfrm>
          <a:prstGeom prst="rect">
            <a:avLst/>
          </a:prstGeom>
          <a:solidFill>
            <a:srgbClr val="C4C3BB"/>
          </a:solidFill>
          <a:ln/>
        </p:spPr>
      </p:sp>
      <p:sp>
        <p:nvSpPr>
          <p:cNvPr id="23" name="Shape 16"/>
          <p:cNvSpPr/>
          <p:nvPr/>
        </p:nvSpPr>
        <p:spPr>
          <a:xfrm>
            <a:off x="761981" y="5973663"/>
            <a:ext cx="10667733" cy="12700"/>
          </a:xfrm>
          <a:prstGeom prst="rect">
            <a:avLst/>
          </a:prstGeom>
          <a:solidFill>
            <a:srgbClr val="C4C3BB"/>
          </a:solidFill>
          <a:ln/>
        </p:spPr>
      </p:sp>
      <p:pic>
        <p:nvPicPr>
          <p:cNvPr id="25" name="Picture 24">
            <a:extLst>
              <a:ext uri="{FF2B5EF4-FFF2-40B4-BE49-F238E27FC236}">
                <a16:creationId xmlns:a16="http://schemas.microsoft.com/office/drawing/2014/main" id="{5E09869B-C7EA-B308-07B6-CE599EB38FB1}"/>
              </a:ext>
            </a:extLst>
          </p:cNvPr>
          <p:cNvPicPr>
            <a:picLocks noChangeAspect="1"/>
          </p:cNvPicPr>
          <p:nvPr/>
        </p:nvPicPr>
        <p:blipFill>
          <a:blip r:embed="rId6"/>
          <a:stretch>
            <a:fillRect/>
          </a:stretch>
        </p:blipFill>
        <p:spPr>
          <a:xfrm>
            <a:off x="9323033" y="6104754"/>
            <a:ext cx="2868967" cy="75215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1981" y="762000"/>
            <a:ext cx="11277318"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PART 3 · COMPARING STUDIES</a:t>
            </a:r>
            <a:endParaRPr lang="en-US" sz="1600" dirty="0"/>
          </a:p>
        </p:txBody>
      </p:sp>
      <p:sp>
        <p:nvSpPr>
          <p:cNvPr id="3" name="Text 1"/>
          <p:cNvSpPr/>
          <p:nvPr/>
        </p:nvSpPr>
        <p:spPr>
          <a:xfrm>
            <a:off x="761981" y="1134666"/>
            <a:ext cx="10159746" cy="1137841"/>
          </a:xfrm>
          <a:prstGeom prst="rect">
            <a:avLst/>
          </a:prstGeom>
          <a:noFill/>
          <a:ln/>
        </p:spPr>
        <p:txBody>
          <a:bodyPr wrap="square" lIns="0" tIns="0" rIns="0" bIns="0" rtlCol="0" anchor="t">
            <a:normAutofit/>
          </a:bodyPr>
          <a:lstStyle/>
          <a:p>
            <a:pPr marL="0" indent="0" algn="l">
              <a:lnSpc>
                <a:spcPct val="93000"/>
              </a:lnSpc>
              <a:buNone/>
            </a:pPr>
            <a:r>
              <a:rPr lang="en-US" sz="4000" kern="0" spc="-48" dirty="0">
                <a:solidFill>
                  <a:srgbClr val="0E0E0E"/>
                </a:solidFill>
                <a:latin typeface="Literata SemiBold" pitchFamily="34" charset="0"/>
                <a:ea typeface="Literata SemiBold" pitchFamily="34" charset="-122"/>
                <a:cs typeface="Literata SemiBold" pitchFamily="34" charset="-120"/>
              </a:rPr>
              <a:t>Example Studies: compare research, do not only list it</a:t>
            </a:r>
            <a:endParaRPr lang="en-US" sz="4000" dirty="0"/>
          </a:p>
        </p:txBody>
      </p:sp>
      <p:sp>
        <p:nvSpPr>
          <p:cNvPr id="4" name="Text 2"/>
          <p:cNvSpPr/>
          <p:nvPr/>
        </p:nvSpPr>
        <p:spPr>
          <a:xfrm>
            <a:off x="761981" y="2510631"/>
            <a:ext cx="11277318" cy="274241"/>
          </a:xfrm>
          <a:prstGeom prst="rect">
            <a:avLst/>
          </a:prstGeom>
          <a:noFill/>
          <a:ln/>
        </p:spPr>
        <p:txBody>
          <a:bodyPr wrap="none" lIns="0" tIns="0" rIns="0" bIns="0" rtlCol="0" anchor="t"/>
          <a:lstStyle/>
          <a:p>
            <a:pPr marL="0" indent="0" algn="l">
              <a:lnSpc>
                <a:spcPct val="113000"/>
              </a:lnSpc>
              <a:buNone/>
            </a:pPr>
            <a:r>
              <a:rPr lang="en-US" sz="1600" dirty="0">
                <a:solidFill>
                  <a:srgbClr val="57574F"/>
                </a:solidFill>
                <a:latin typeface="Noto Sans" pitchFamily="34" charset="0"/>
                <a:ea typeface="Noto Sans" pitchFamily="34" charset="-122"/>
                <a:cs typeface="Noto Sans" pitchFamily="34" charset="-120"/>
              </a:rPr>
              <a:t>FICTIONAL EXAMPLES · FOR DEMONSTRATION ONLY · NOT REAL RESEARCH</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1981" y="2960092"/>
          <a:ext cx="10667733" cy="2960614"/>
        </p:xfrm>
        <a:graphic>
          <a:graphicData uri="http://schemas.openxmlformats.org/drawingml/2006/table">
            <a:tbl>
              <a:tblPr/>
              <a:tblGrid>
                <a:gridCol w="2133547">
                  <a:extLst>
                    <a:ext uri="{9D8B030D-6E8A-4147-A177-3AD203B41FA5}">
                      <a16:colId xmlns:a16="http://schemas.microsoft.com/office/drawing/2014/main" val="20000"/>
                    </a:ext>
                  </a:extLst>
                </a:gridCol>
                <a:gridCol w="1920192">
                  <a:extLst>
                    <a:ext uri="{9D8B030D-6E8A-4147-A177-3AD203B41FA5}">
                      <a16:colId xmlns:a16="http://schemas.microsoft.com/office/drawing/2014/main" val="20001"/>
                    </a:ext>
                  </a:extLst>
                </a:gridCol>
                <a:gridCol w="1280128">
                  <a:extLst>
                    <a:ext uri="{9D8B030D-6E8A-4147-A177-3AD203B41FA5}">
                      <a16:colId xmlns:a16="http://schemas.microsoft.com/office/drawing/2014/main" val="20002"/>
                    </a:ext>
                  </a:extLst>
                </a:gridCol>
                <a:gridCol w="1386805">
                  <a:extLst>
                    <a:ext uri="{9D8B030D-6E8A-4147-A177-3AD203B41FA5}">
                      <a16:colId xmlns:a16="http://schemas.microsoft.com/office/drawing/2014/main" val="20003"/>
                    </a:ext>
                  </a:extLst>
                </a:gridCol>
                <a:gridCol w="2346901">
                  <a:extLst>
                    <a:ext uri="{9D8B030D-6E8A-4147-A177-3AD203B41FA5}">
                      <a16:colId xmlns:a16="http://schemas.microsoft.com/office/drawing/2014/main" val="20004"/>
                    </a:ext>
                  </a:extLst>
                </a:gridCol>
                <a:gridCol w="1600160">
                  <a:extLst>
                    <a:ext uri="{9D8B030D-6E8A-4147-A177-3AD203B41FA5}">
                      <a16:colId xmlns:a16="http://schemas.microsoft.com/office/drawing/2014/main" val="20005"/>
                    </a:ext>
                  </a:extLst>
                </a:gridCol>
              </a:tblGrid>
              <a:tr h="543308">
                <a:tc>
                  <a:txBody>
                    <a:bodyPr/>
                    <a:lstStyle/>
                    <a:p>
                      <a:pPr marL="0" indent="0" algn="l">
                        <a:buNone/>
                      </a:pPr>
                      <a:r>
                        <a:rPr lang="en-US" sz="1900" dirty="0">
                          <a:solidFill>
                            <a:srgbClr val="0E0E0E"/>
                          </a:solidFill>
                          <a:latin typeface="Noto Sans" pitchFamily="34" charset="0"/>
                          <a:ea typeface="Noto Sans" pitchFamily="34" charset="-122"/>
                          <a:cs typeface="Noto Sans" pitchFamily="34" charset="-120"/>
                        </a:rPr>
                        <a:t>Author &amp; Year</a:t>
                      </a:r>
                      <a:endParaRPr lang="en-US" sz="19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F7F6F2"/>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900" dirty="0">
                          <a:solidFill>
                            <a:srgbClr val="0E0E0E"/>
                          </a:solidFill>
                          <a:latin typeface="Noto Sans" pitchFamily="34" charset="0"/>
                          <a:ea typeface="Noto Sans" pitchFamily="34" charset="-122"/>
                          <a:cs typeface="Noto Sans" pitchFamily="34" charset="-120"/>
                        </a:rPr>
                        <a:t>Problem</a:t>
                      </a:r>
                      <a:endParaRPr lang="en-US" sz="19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F7F6F2"/>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900" dirty="0">
                          <a:solidFill>
                            <a:srgbClr val="0E0E0E"/>
                          </a:solidFill>
                          <a:latin typeface="Noto Sans" pitchFamily="34" charset="0"/>
                          <a:ea typeface="Noto Sans" pitchFamily="34" charset="-122"/>
                          <a:cs typeface="Noto Sans" pitchFamily="34" charset="-120"/>
                        </a:rPr>
                        <a:t>Method</a:t>
                      </a:r>
                      <a:endParaRPr lang="en-US" sz="19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F7F6F2"/>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900" dirty="0">
                          <a:solidFill>
                            <a:srgbClr val="0E0E0E"/>
                          </a:solidFill>
                          <a:latin typeface="Noto Sans" pitchFamily="34" charset="0"/>
                          <a:ea typeface="Noto Sans" pitchFamily="34" charset="-122"/>
                          <a:cs typeface="Noto Sans" pitchFamily="34" charset="-120"/>
                        </a:rPr>
                        <a:t>Dataset</a:t>
                      </a:r>
                      <a:endParaRPr lang="en-US" sz="19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F7F6F2"/>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900" dirty="0">
                          <a:solidFill>
                            <a:srgbClr val="0E0E0E"/>
                          </a:solidFill>
                          <a:latin typeface="Noto Sans" pitchFamily="34" charset="0"/>
                          <a:ea typeface="Noto Sans" pitchFamily="34" charset="-122"/>
                          <a:cs typeface="Noto Sans" pitchFamily="34" charset="-120"/>
                        </a:rPr>
                        <a:t>Result</a:t>
                      </a:r>
                      <a:endParaRPr lang="en-US" sz="19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F7F6F2"/>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900" dirty="0">
                          <a:solidFill>
                            <a:srgbClr val="0E0E0E"/>
                          </a:solidFill>
                          <a:latin typeface="Noto Sans" pitchFamily="34" charset="0"/>
                          <a:ea typeface="Noto Sans" pitchFamily="34" charset="-122"/>
                          <a:cs typeface="Noto Sans" pitchFamily="34" charset="-120"/>
                        </a:rPr>
                        <a:t>Limitation</a:t>
                      </a:r>
                      <a:endParaRPr lang="en-US" sz="19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F7F6F2"/>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extLst>
                  <a:ext uri="{0D108BD9-81ED-4DB2-BD59-A6C34878D82A}">
                    <a16:rowId xmlns:a16="http://schemas.microsoft.com/office/drawing/2014/main" val="10000"/>
                  </a:ext>
                </a:extLst>
              </a:tr>
              <a:tr h="810002">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Rahman (2022)</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Low student app use</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Survey</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120 students</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Use increased with reminders</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One university</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extLst>
                  <a:ext uri="{0D108BD9-81ED-4DB2-BD59-A6C34878D82A}">
                    <a16:rowId xmlns:a16="http://schemas.microsoft.com/office/drawing/2014/main" val="10001"/>
                  </a:ext>
                </a:extLst>
              </a:tr>
              <a:tr h="810002">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Sultana (2023)</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Slow image labeling</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Simple model</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Small image set</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Labeling time fell</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Small dataset</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C4C3BB"/>
                      </a:solidFill>
                      <a:prstDash val="solid"/>
                      <a:round/>
                      <a:headEnd type="none" w="med" len="med"/>
                      <a:tailEnd type="none" w="med" len="med"/>
                    </a:lnB>
                  </a:tcPr>
                </a:tc>
                <a:extLst>
                  <a:ext uri="{0D108BD9-81ED-4DB2-BD59-A6C34878D82A}">
                    <a16:rowId xmlns:a16="http://schemas.microsoft.com/office/drawing/2014/main" val="10002"/>
                  </a:ext>
                </a:extLst>
              </a:tr>
              <a:tr h="797302">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Karim (2024)</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F7F6F2"/>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Weak online support</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F7F6F2"/>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Interviews</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F7F6F2"/>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15 teachers</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F7F6F2"/>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Support needs were mapped</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F7F6F2"/>
                      </a:solidFill>
                      <a:prstDash val="solid"/>
                      <a:round/>
                      <a:headEnd type="none" w="med" len="med"/>
                      <a:tailEnd type="none" w="med" len="med"/>
                    </a:lnB>
                  </a:tcPr>
                </a:tc>
                <a:tc>
                  <a:txBody>
                    <a:bodyPr/>
                    <a:lstStyle/>
                    <a:p>
                      <a:pPr marL="0" indent="0" algn="l">
                        <a:buNone/>
                      </a:pPr>
                      <a:r>
                        <a:rPr lang="en-US" sz="1700" dirty="0">
                          <a:solidFill>
                            <a:srgbClr val="141414"/>
                          </a:solidFill>
                          <a:latin typeface="Noto Sans" pitchFamily="34" charset="0"/>
                          <a:ea typeface="Noto Sans" pitchFamily="34" charset="-122"/>
                          <a:cs typeface="Noto Sans" pitchFamily="34" charset="-120"/>
                        </a:rPr>
                        <a:t>Short study period</a:t>
                      </a:r>
                      <a:endParaRPr lang="en-US" sz="1700" dirty="0">
                        <a:latin typeface="Noto Sans" charset="0"/>
                        <a:ea typeface="Noto Sans" charset="0"/>
                        <a:cs typeface="Noto Sans" charset="0"/>
                      </a:endParaRPr>
                    </a:p>
                  </a:txBody>
                  <a:tcPr marL="180970" marR="180970" marT="96517" marB="96517" anchor="ctr">
                    <a:lnL w="12700" cap="flat" cmpd="sng" algn="ctr">
                      <a:solidFill>
                        <a:srgbClr val="F7F6F2"/>
                      </a:solidFill>
                      <a:prstDash val="solid"/>
                      <a:round/>
                      <a:headEnd type="none" w="med" len="med"/>
                      <a:tailEnd type="none" w="med" len="med"/>
                    </a:lnL>
                    <a:lnR w="12700" cap="flat" cmpd="sng" algn="ctr">
                      <a:solidFill>
                        <a:srgbClr val="F7F6F2"/>
                      </a:solidFill>
                      <a:prstDash val="solid"/>
                      <a:round/>
                      <a:headEnd type="none" w="med" len="med"/>
                      <a:tailEnd type="none" w="med" len="med"/>
                    </a:lnR>
                    <a:lnT w="12700" cap="flat" cmpd="sng" algn="ctr">
                      <a:solidFill>
                        <a:srgbClr val="C4C3BB"/>
                      </a:solidFill>
                      <a:prstDash val="solid"/>
                      <a:round/>
                      <a:headEnd type="none" w="med" len="med"/>
                      <a:tailEnd type="none" w="med" len="med"/>
                    </a:lnT>
                    <a:lnB w="12700" cap="flat" cmpd="sng" algn="ctr">
                      <a:solidFill>
                        <a:srgbClr val="F7F6F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6" name="Picture 5">
            <a:extLst>
              <a:ext uri="{FF2B5EF4-FFF2-40B4-BE49-F238E27FC236}">
                <a16:creationId xmlns:a16="http://schemas.microsoft.com/office/drawing/2014/main" id="{B39F7EE0-DE9D-67AA-222A-F823F091F6F1}"/>
              </a:ext>
            </a:extLst>
          </p:cNvPr>
          <p:cNvPicPr>
            <a:picLocks noChangeAspect="1"/>
          </p:cNvPicPr>
          <p:nvPr/>
        </p:nvPicPr>
        <p:blipFill>
          <a:blip r:embed="rId3"/>
          <a:stretch>
            <a:fillRect/>
          </a:stretch>
        </p:blipFill>
        <p:spPr>
          <a:xfrm>
            <a:off x="9167758" y="6215795"/>
            <a:ext cx="3024242" cy="6422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61981" y="762000"/>
            <a:ext cx="11277318"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PART 4 · RESEARCH GAP</a:t>
            </a:r>
            <a:endParaRPr lang="en-US" sz="1600" dirty="0"/>
          </a:p>
        </p:txBody>
      </p:sp>
      <p:sp>
        <p:nvSpPr>
          <p:cNvPr id="3" name="Text 1"/>
          <p:cNvSpPr/>
          <p:nvPr/>
        </p:nvSpPr>
        <p:spPr>
          <a:xfrm>
            <a:off x="761981" y="1134666"/>
            <a:ext cx="10159746" cy="1137841"/>
          </a:xfrm>
          <a:prstGeom prst="rect">
            <a:avLst/>
          </a:prstGeom>
          <a:noFill/>
          <a:ln/>
        </p:spPr>
        <p:txBody>
          <a:bodyPr wrap="square" lIns="0" tIns="0" rIns="0" bIns="0" rtlCol="0" anchor="t">
            <a:normAutofit/>
          </a:bodyPr>
          <a:lstStyle/>
          <a:p>
            <a:pPr marL="0" indent="0" algn="l">
              <a:lnSpc>
                <a:spcPct val="93000"/>
              </a:lnSpc>
              <a:buNone/>
            </a:pPr>
            <a:r>
              <a:rPr lang="en-US" sz="4000" kern="0" spc="-48" dirty="0">
                <a:solidFill>
                  <a:srgbClr val="0E0E0E"/>
                </a:solidFill>
                <a:latin typeface="Literata SemiBold" pitchFamily="34" charset="0"/>
                <a:ea typeface="Literata SemiBold" pitchFamily="34" charset="-122"/>
                <a:cs typeface="Literata SemiBold" pitchFamily="34" charset="-120"/>
              </a:rPr>
              <a:t>A research gap is the missing part in existing knowledge</a:t>
            </a:r>
            <a:endParaRPr lang="en-US" sz="4000" dirty="0"/>
          </a:p>
        </p:txBody>
      </p:sp>
      <p:sp>
        <p:nvSpPr>
          <p:cNvPr id="4" name="Text 2"/>
          <p:cNvSpPr/>
          <p:nvPr/>
        </p:nvSpPr>
        <p:spPr>
          <a:xfrm>
            <a:off x="761981" y="2510631"/>
            <a:ext cx="7238819"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Ask what is missing, weak, unclear, or not tested in previous research. The gap points toward useful new research.</a:t>
            </a:r>
            <a:endParaRPr lang="en-US" sz="1900" dirty="0"/>
          </a:p>
        </p:txBody>
      </p:sp>
      <p:sp>
        <p:nvSpPr>
          <p:cNvPr id="5" name="Shape 3"/>
          <p:cNvSpPr/>
          <p:nvPr/>
        </p:nvSpPr>
        <p:spPr>
          <a:xfrm>
            <a:off x="761981" y="3355578"/>
            <a:ext cx="2011709" cy="965200"/>
          </a:xfrm>
          <a:prstGeom prst="rect">
            <a:avLst/>
          </a:prstGeom>
          <a:solidFill>
            <a:srgbClr val="D2CFC5"/>
          </a:solidFill>
          <a:ln/>
        </p:spPr>
      </p:sp>
      <p:sp>
        <p:nvSpPr>
          <p:cNvPr id="6" name="Shape 4"/>
          <p:cNvSpPr/>
          <p:nvPr/>
        </p:nvSpPr>
        <p:spPr>
          <a:xfrm>
            <a:off x="776963" y="3370560"/>
            <a:ext cx="1981547" cy="935038"/>
          </a:xfrm>
          <a:prstGeom prst="rect">
            <a:avLst/>
          </a:prstGeom>
          <a:solidFill>
            <a:srgbClr val="ECE9DF"/>
          </a:solidFill>
          <a:ln/>
        </p:spPr>
      </p:sp>
      <p:sp>
        <p:nvSpPr>
          <p:cNvPr id="7" name="Text 5"/>
          <p:cNvSpPr/>
          <p:nvPr/>
        </p:nvSpPr>
        <p:spPr>
          <a:xfrm>
            <a:off x="1664254" y="3657203"/>
            <a:ext cx="816649" cy="361950"/>
          </a:xfrm>
          <a:prstGeom prst="rect">
            <a:avLst/>
          </a:prstGeom>
          <a:noFill/>
          <a:ln/>
        </p:spPr>
        <p:txBody>
          <a:bodyPr wrap="none" lIns="0" tIns="0" rIns="0" bIns="0" rtlCol="0" anchor="t"/>
          <a:lstStyle/>
          <a:p>
            <a:pPr marL="0" indent="0" algn="l">
              <a:lnSpc>
                <a:spcPct val="83000"/>
              </a:lnSpc>
              <a:buNone/>
            </a:pPr>
            <a:r>
              <a:rPr lang="en-US" sz="2850" dirty="0">
                <a:solidFill>
                  <a:srgbClr val="141414"/>
                </a:solidFill>
                <a:latin typeface="Noto Sans SemiBold" pitchFamily="34" charset="0"/>
                <a:ea typeface="Noto Sans SemiBold" pitchFamily="34" charset="-122"/>
                <a:cs typeface="Noto Sans SemiBold" pitchFamily="34" charset="-120"/>
              </a:rPr>
              <a:t>1</a:t>
            </a:r>
            <a:endParaRPr lang="en-US" sz="2850" dirty="0"/>
          </a:p>
        </p:txBody>
      </p:sp>
      <p:sp>
        <p:nvSpPr>
          <p:cNvPr id="8" name="Text 6"/>
          <p:cNvSpPr/>
          <p:nvPr/>
        </p:nvSpPr>
        <p:spPr>
          <a:xfrm>
            <a:off x="761981" y="4419203"/>
            <a:ext cx="2011709"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Previous research</a:t>
            </a:r>
            <a:endParaRPr lang="en-US" sz="2000" dirty="0"/>
          </a:p>
        </p:txBody>
      </p:sp>
      <p:sp>
        <p:nvSpPr>
          <p:cNvPr id="9" name="Text 7"/>
          <p:cNvSpPr/>
          <p:nvPr/>
        </p:nvSpPr>
        <p:spPr>
          <a:xfrm>
            <a:off x="761981" y="5251053"/>
            <a:ext cx="2011709"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What has been studied?</a:t>
            </a:r>
            <a:endParaRPr lang="en-US" sz="1900" dirty="0"/>
          </a:p>
        </p:txBody>
      </p:sp>
      <p:sp>
        <p:nvSpPr>
          <p:cNvPr id="10" name="Shape 8"/>
          <p:cNvSpPr/>
          <p:nvPr/>
        </p:nvSpPr>
        <p:spPr>
          <a:xfrm>
            <a:off x="2925987" y="3355578"/>
            <a:ext cx="2011709" cy="965200"/>
          </a:xfrm>
          <a:prstGeom prst="rect">
            <a:avLst/>
          </a:prstGeom>
          <a:solidFill>
            <a:srgbClr val="D2CFC5"/>
          </a:solidFill>
          <a:ln/>
        </p:spPr>
      </p:sp>
      <p:sp>
        <p:nvSpPr>
          <p:cNvPr id="11" name="Shape 9"/>
          <p:cNvSpPr/>
          <p:nvPr/>
        </p:nvSpPr>
        <p:spPr>
          <a:xfrm>
            <a:off x="2940969" y="3370560"/>
            <a:ext cx="1981547" cy="935038"/>
          </a:xfrm>
          <a:prstGeom prst="rect">
            <a:avLst/>
          </a:prstGeom>
          <a:solidFill>
            <a:srgbClr val="ECE9DF"/>
          </a:solidFill>
          <a:ln/>
        </p:spPr>
      </p:sp>
      <p:sp>
        <p:nvSpPr>
          <p:cNvPr id="12" name="Text 10"/>
          <p:cNvSpPr/>
          <p:nvPr/>
        </p:nvSpPr>
        <p:spPr>
          <a:xfrm>
            <a:off x="3828260" y="3657203"/>
            <a:ext cx="816649" cy="361950"/>
          </a:xfrm>
          <a:prstGeom prst="rect">
            <a:avLst/>
          </a:prstGeom>
          <a:noFill/>
          <a:ln/>
        </p:spPr>
        <p:txBody>
          <a:bodyPr wrap="none" lIns="0" tIns="0" rIns="0" bIns="0" rtlCol="0" anchor="t"/>
          <a:lstStyle/>
          <a:p>
            <a:pPr marL="0" indent="0" algn="l">
              <a:lnSpc>
                <a:spcPct val="83000"/>
              </a:lnSpc>
              <a:buNone/>
            </a:pPr>
            <a:r>
              <a:rPr lang="en-US" sz="2850" dirty="0">
                <a:solidFill>
                  <a:srgbClr val="141414"/>
                </a:solidFill>
                <a:latin typeface="Noto Sans SemiBold" pitchFamily="34" charset="0"/>
                <a:ea typeface="Noto Sans SemiBold" pitchFamily="34" charset="-122"/>
                <a:cs typeface="Noto Sans SemiBold" pitchFamily="34" charset="-120"/>
              </a:rPr>
              <a:t>2</a:t>
            </a:r>
            <a:endParaRPr lang="en-US" sz="2850" dirty="0"/>
          </a:p>
        </p:txBody>
      </p:sp>
      <p:sp>
        <p:nvSpPr>
          <p:cNvPr id="13" name="Text 11"/>
          <p:cNvSpPr/>
          <p:nvPr/>
        </p:nvSpPr>
        <p:spPr>
          <a:xfrm>
            <a:off x="2925987" y="4419203"/>
            <a:ext cx="2011709" cy="330200"/>
          </a:xfrm>
          <a:prstGeom prst="rect">
            <a:avLst/>
          </a:prstGeom>
          <a:noFill/>
          <a:ln/>
        </p:spPr>
        <p:txBody>
          <a:bodyPr wrap="none" lIns="0" tIns="0" rIns="0" bIns="0" rtlCol="0" anchor="t"/>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Limitations</a:t>
            </a:r>
            <a:endParaRPr lang="en-US" sz="2000" dirty="0"/>
          </a:p>
        </p:txBody>
      </p:sp>
      <p:sp>
        <p:nvSpPr>
          <p:cNvPr id="14" name="Text 12"/>
          <p:cNvSpPr/>
          <p:nvPr/>
        </p:nvSpPr>
        <p:spPr>
          <a:xfrm>
            <a:off x="2925987" y="4920853"/>
            <a:ext cx="2011709"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What are its limits?</a:t>
            </a:r>
            <a:endParaRPr lang="en-US" sz="1900" dirty="0"/>
          </a:p>
        </p:txBody>
      </p:sp>
      <p:sp>
        <p:nvSpPr>
          <p:cNvPr id="15" name="Shape 13"/>
          <p:cNvSpPr/>
          <p:nvPr/>
        </p:nvSpPr>
        <p:spPr>
          <a:xfrm>
            <a:off x="5089993" y="3355578"/>
            <a:ext cx="2011709" cy="965200"/>
          </a:xfrm>
          <a:prstGeom prst="rect">
            <a:avLst/>
          </a:prstGeom>
          <a:solidFill>
            <a:srgbClr val="D2CFC5"/>
          </a:solidFill>
          <a:ln/>
        </p:spPr>
      </p:sp>
      <p:sp>
        <p:nvSpPr>
          <p:cNvPr id="16" name="Shape 14"/>
          <p:cNvSpPr/>
          <p:nvPr/>
        </p:nvSpPr>
        <p:spPr>
          <a:xfrm>
            <a:off x="5104975" y="3370560"/>
            <a:ext cx="1981547" cy="935038"/>
          </a:xfrm>
          <a:prstGeom prst="rect">
            <a:avLst/>
          </a:prstGeom>
          <a:solidFill>
            <a:srgbClr val="ECE9DF"/>
          </a:solidFill>
          <a:ln/>
        </p:spPr>
      </p:sp>
      <p:sp>
        <p:nvSpPr>
          <p:cNvPr id="17" name="Text 15"/>
          <p:cNvSpPr/>
          <p:nvPr/>
        </p:nvSpPr>
        <p:spPr>
          <a:xfrm>
            <a:off x="5992266" y="3657203"/>
            <a:ext cx="816649" cy="361950"/>
          </a:xfrm>
          <a:prstGeom prst="rect">
            <a:avLst/>
          </a:prstGeom>
          <a:noFill/>
          <a:ln/>
        </p:spPr>
        <p:txBody>
          <a:bodyPr wrap="none" lIns="0" tIns="0" rIns="0" bIns="0" rtlCol="0" anchor="t"/>
          <a:lstStyle/>
          <a:p>
            <a:pPr marL="0" indent="0" algn="l">
              <a:lnSpc>
                <a:spcPct val="83000"/>
              </a:lnSpc>
              <a:buNone/>
            </a:pPr>
            <a:r>
              <a:rPr lang="en-US" sz="2850" dirty="0">
                <a:solidFill>
                  <a:srgbClr val="141414"/>
                </a:solidFill>
                <a:latin typeface="Noto Sans SemiBold" pitchFamily="34" charset="0"/>
                <a:ea typeface="Noto Sans SemiBold" pitchFamily="34" charset="-122"/>
                <a:cs typeface="Noto Sans SemiBold" pitchFamily="34" charset="-120"/>
              </a:rPr>
              <a:t>3</a:t>
            </a:r>
            <a:endParaRPr lang="en-US" sz="2850" dirty="0"/>
          </a:p>
        </p:txBody>
      </p:sp>
      <p:sp>
        <p:nvSpPr>
          <p:cNvPr id="18" name="Text 16"/>
          <p:cNvSpPr/>
          <p:nvPr/>
        </p:nvSpPr>
        <p:spPr>
          <a:xfrm>
            <a:off x="5089993" y="4419203"/>
            <a:ext cx="2011709" cy="330200"/>
          </a:xfrm>
          <a:prstGeom prst="rect">
            <a:avLst/>
          </a:prstGeom>
          <a:noFill/>
          <a:ln/>
        </p:spPr>
        <p:txBody>
          <a:bodyPr wrap="none" lIns="0" tIns="0" rIns="0" bIns="0" rtlCol="0" anchor="t"/>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Missing area</a:t>
            </a:r>
            <a:endParaRPr lang="en-US" sz="2000" dirty="0"/>
          </a:p>
        </p:txBody>
      </p:sp>
      <p:sp>
        <p:nvSpPr>
          <p:cNvPr id="19" name="Text 17"/>
          <p:cNvSpPr/>
          <p:nvPr/>
        </p:nvSpPr>
        <p:spPr>
          <a:xfrm>
            <a:off x="5089993" y="4920853"/>
            <a:ext cx="2011709"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What remains unclear?</a:t>
            </a:r>
            <a:endParaRPr lang="en-US" sz="1900" dirty="0"/>
          </a:p>
        </p:txBody>
      </p:sp>
      <p:sp>
        <p:nvSpPr>
          <p:cNvPr id="20" name="Shape 18"/>
          <p:cNvSpPr/>
          <p:nvPr/>
        </p:nvSpPr>
        <p:spPr>
          <a:xfrm>
            <a:off x="7253999" y="3355578"/>
            <a:ext cx="2011709" cy="965200"/>
          </a:xfrm>
          <a:prstGeom prst="rect">
            <a:avLst/>
          </a:prstGeom>
          <a:solidFill>
            <a:srgbClr val="D2CFC5"/>
          </a:solidFill>
          <a:ln/>
        </p:spPr>
      </p:sp>
      <p:sp>
        <p:nvSpPr>
          <p:cNvPr id="21" name="Shape 19"/>
          <p:cNvSpPr/>
          <p:nvPr/>
        </p:nvSpPr>
        <p:spPr>
          <a:xfrm>
            <a:off x="7268981" y="3370560"/>
            <a:ext cx="1981547" cy="935038"/>
          </a:xfrm>
          <a:prstGeom prst="rect">
            <a:avLst/>
          </a:prstGeom>
          <a:solidFill>
            <a:srgbClr val="ECE9DF"/>
          </a:solidFill>
          <a:ln/>
        </p:spPr>
      </p:sp>
      <p:sp>
        <p:nvSpPr>
          <p:cNvPr id="22" name="Text 20"/>
          <p:cNvSpPr/>
          <p:nvPr/>
        </p:nvSpPr>
        <p:spPr>
          <a:xfrm>
            <a:off x="8156272" y="3657203"/>
            <a:ext cx="816649" cy="361950"/>
          </a:xfrm>
          <a:prstGeom prst="rect">
            <a:avLst/>
          </a:prstGeom>
          <a:noFill/>
          <a:ln/>
        </p:spPr>
        <p:txBody>
          <a:bodyPr wrap="none" lIns="0" tIns="0" rIns="0" bIns="0" rtlCol="0" anchor="t"/>
          <a:lstStyle/>
          <a:p>
            <a:pPr marL="0" indent="0" algn="l">
              <a:lnSpc>
                <a:spcPct val="83000"/>
              </a:lnSpc>
              <a:buNone/>
            </a:pPr>
            <a:r>
              <a:rPr lang="en-US" sz="2850" dirty="0">
                <a:solidFill>
                  <a:srgbClr val="141414"/>
                </a:solidFill>
                <a:latin typeface="Noto Sans SemiBold" pitchFamily="34" charset="0"/>
                <a:ea typeface="Noto Sans SemiBold" pitchFamily="34" charset="-122"/>
                <a:cs typeface="Noto Sans SemiBold" pitchFamily="34" charset="-120"/>
              </a:rPr>
              <a:t>4</a:t>
            </a:r>
            <a:endParaRPr lang="en-US" sz="2850" dirty="0"/>
          </a:p>
        </p:txBody>
      </p:sp>
      <p:sp>
        <p:nvSpPr>
          <p:cNvPr id="23" name="Text 21"/>
          <p:cNvSpPr/>
          <p:nvPr/>
        </p:nvSpPr>
        <p:spPr>
          <a:xfrm>
            <a:off x="7253999" y="4419203"/>
            <a:ext cx="2011709" cy="330200"/>
          </a:xfrm>
          <a:prstGeom prst="rect">
            <a:avLst/>
          </a:prstGeom>
          <a:noFill/>
          <a:ln/>
        </p:spPr>
        <p:txBody>
          <a:bodyPr wrap="none" lIns="0" tIns="0" rIns="0" bIns="0" rtlCol="0" anchor="t"/>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Research gap</a:t>
            </a:r>
            <a:endParaRPr lang="en-US" sz="2000" dirty="0"/>
          </a:p>
        </p:txBody>
      </p:sp>
      <p:sp>
        <p:nvSpPr>
          <p:cNvPr id="24" name="Text 22"/>
          <p:cNvSpPr/>
          <p:nvPr/>
        </p:nvSpPr>
        <p:spPr>
          <a:xfrm>
            <a:off x="7253999" y="4920853"/>
            <a:ext cx="2011709"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What needs attention?</a:t>
            </a:r>
            <a:endParaRPr lang="en-US" sz="1900" dirty="0"/>
          </a:p>
        </p:txBody>
      </p:sp>
      <p:sp>
        <p:nvSpPr>
          <p:cNvPr id="25" name="Shape 23"/>
          <p:cNvSpPr/>
          <p:nvPr/>
        </p:nvSpPr>
        <p:spPr>
          <a:xfrm>
            <a:off x="9418005" y="3355578"/>
            <a:ext cx="2011709" cy="965200"/>
          </a:xfrm>
          <a:prstGeom prst="rect">
            <a:avLst/>
          </a:prstGeom>
          <a:solidFill>
            <a:srgbClr val="D2CFC5"/>
          </a:solidFill>
          <a:ln/>
        </p:spPr>
      </p:sp>
      <p:sp>
        <p:nvSpPr>
          <p:cNvPr id="26" name="Shape 24"/>
          <p:cNvSpPr/>
          <p:nvPr/>
        </p:nvSpPr>
        <p:spPr>
          <a:xfrm>
            <a:off x="9432987" y="3370560"/>
            <a:ext cx="1981547" cy="935038"/>
          </a:xfrm>
          <a:prstGeom prst="rect">
            <a:avLst/>
          </a:prstGeom>
          <a:solidFill>
            <a:srgbClr val="ECE9DF"/>
          </a:solidFill>
          <a:ln/>
        </p:spPr>
      </p:sp>
      <p:sp>
        <p:nvSpPr>
          <p:cNvPr id="27" name="Text 25"/>
          <p:cNvSpPr/>
          <p:nvPr/>
        </p:nvSpPr>
        <p:spPr>
          <a:xfrm>
            <a:off x="10320278" y="3657203"/>
            <a:ext cx="816649" cy="361950"/>
          </a:xfrm>
          <a:prstGeom prst="rect">
            <a:avLst/>
          </a:prstGeom>
          <a:noFill/>
          <a:ln/>
        </p:spPr>
        <p:txBody>
          <a:bodyPr wrap="none" lIns="0" tIns="0" rIns="0" bIns="0" rtlCol="0" anchor="t"/>
          <a:lstStyle/>
          <a:p>
            <a:pPr marL="0" indent="0" algn="l">
              <a:lnSpc>
                <a:spcPct val="83000"/>
              </a:lnSpc>
              <a:buNone/>
            </a:pPr>
            <a:r>
              <a:rPr lang="en-US" sz="2850" dirty="0">
                <a:solidFill>
                  <a:srgbClr val="141414"/>
                </a:solidFill>
                <a:latin typeface="Noto Sans SemiBold" pitchFamily="34" charset="0"/>
                <a:ea typeface="Noto Sans SemiBold" pitchFamily="34" charset="-122"/>
                <a:cs typeface="Noto Sans SemiBold" pitchFamily="34" charset="-120"/>
              </a:rPr>
              <a:t>5</a:t>
            </a:r>
            <a:endParaRPr lang="en-US" sz="2850" dirty="0"/>
          </a:p>
        </p:txBody>
      </p:sp>
      <p:sp>
        <p:nvSpPr>
          <p:cNvPr id="28" name="Text 26"/>
          <p:cNvSpPr/>
          <p:nvPr/>
        </p:nvSpPr>
        <p:spPr>
          <a:xfrm>
            <a:off x="9418005" y="4419203"/>
            <a:ext cx="2011709" cy="330200"/>
          </a:xfrm>
          <a:prstGeom prst="rect">
            <a:avLst/>
          </a:prstGeom>
          <a:noFill/>
          <a:ln/>
        </p:spPr>
        <p:txBody>
          <a:bodyPr wrap="none" lIns="0" tIns="0" rIns="0" bIns="0" rtlCol="0" anchor="t"/>
          <a:lstStyle/>
          <a:p>
            <a:pPr marL="0" indent="0" algn="l">
              <a:lnSpc>
                <a:spcPct val="108000"/>
              </a:lnSpc>
              <a:buNone/>
            </a:pPr>
            <a:r>
              <a:rPr lang="en-US" sz="2000" dirty="0">
                <a:solidFill>
                  <a:srgbClr val="0E0E0E"/>
                </a:solidFill>
                <a:latin typeface="Noto Sans" pitchFamily="34" charset="0"/>
                <a:ea typeface="Noto Sans" pitchFamily="34" charset="-122"/>
                <a:cs typeface="Noto Sans" pitchFamily="34" charset="-120"/>
              </a:rPr>
              <a:t>New research</a:t>
            </a:r>
            <a:endParaRPr lang="en-US" sz="2000" dirty="0"/>
          </a:p>
        </p:txBody>
      </p:sp>
      <p:sp>
        <p:nvSpPr>
          <p:cNvPr id="29" name="Text 27"/>
          <p:cNvSpPr/>
          <p:nvPr/>
        </p:nvSpPr>
        <p:spPr>
          <a:xfrm>
            <a:off x="9418005" y="4920853"/>
            <a:ext cx="2011709"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How can a study respond?</a:t>
            </a:r>
            <a:endParaRPr lang="en-US" sz="1900" dirty="0"/>
          </a:p>
        </p:txBody>
      </p:sp>
      <p:pic>
        <p:nvPicPr>
          <p:cNvPr id="31" name="Picture 30">
            <a:extLst>
              <a:ext uri="{FF2B5EF4-FFF2-40B4-BE49-F238E27FC236}">
                <a16:creationId xmlns:a16="http://schemas.microsoft.com/office/drawing/2014/main" id="{655352A1-5CC8-F7E4-5341-4F2AE6F1C400}"/>
              </a:ext>
            </a:extLst>
          </p:cNvPr>
          <p:cNvPicPr>
            <a:picLocks noChangeAspect="1"/>
          </p:cNvPicPr>
          <p:nvPr/>
        </p:nvPicPr>
        <p:blipFill>
          <a:blip r:embed="rId3"/>
          <a:stretch>
            <a:fillRect/>
          </a:stretch>
        </p:blipFill>
        <p:spPr>
          <a:xfrm>
            <a:off x="8829206" y="5778057"/>
            <a:ext cx="3362794" cy="10860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61981" y="762000"/>
            <a:ext cx="11277318" cy="274241"/>
          </a:xfrm>
          <a:prstGeom prst="rect">
            <a:avLst/>
          </a:prstGeom>
          <a:noFill/>
          <a:ln/>
        </p:spPr>
        <p:txBody>
          <a:bodyPr wrap="none" lIns="0" tIns="0" rIns="0" bIns="0" rtlCol="0" anchor="t"/>
          <a:lstStyle/>
          <a:p>
            <a:pPr marL="0" indent="0" algn="l">
              <a:lnSpc>
                <a:spcPct val="113000"/>
              </a:lnSpc>
              <a:buNone/>
            </a:pPr>
            <a:r>
              <a:rPr lang="en-US" sz="1600" kern="0" spc="32" dirty="0">
                <a:solidFill>
                  <a:srgbClr val="57574F"/>
                </a:solidFill>
                <a:latin typeface="Noto Sans Medium" pitchFamily="34" charset="0"/>
                <a:ea typeface="Noto Sans Medium" pitchFamily="34" charset="-122"/>
                <a:cs typeface="Noto Sans Medium" pitchFamily="34" charset="-120"/>
              </a:rPr>
              <a:t>PART 5 · SUMMARY</a:t>
            </a:r>
            <a:endParaRPr lang="en-US" sz="1600" dirty="0"/>
          </a:p>
        </p:txBody>
      </p:sp>
      <p:sp>
        <p:nvSpPr>
          <p:cNvPr id="3" name="Text 1"/>
          <p:cNvSpPr/>
          <p:nvPr/>
        </p:nvSpPr>
        <p:spPr>
          <a:xfrm>
            <a:off x="761981" y="1134666"/>
            <a:ext cx="10159746" cy="1137841"/>
          </a:xfrm>
          <a:prstGeom prst="rect">
            <a:avLst/>
          </a:prstGeom>
          <a:noFill/>
          <a:ln/>
        </p:spPr>
        <p:txBody>
          <a:bodyPr wrap="square" lIns="0" tIns="0" rIns="0" bIns="0" rtlCol="0" anchor="t">
            <a:normAutofit/>
          </a:bodyPr>
          <a:lstStyle/>
          <a:p>
            <a:pPr marL="0" indent="0" algn="l">
              <a:lnSpc>
                <a:spcPct val="93000"/>
              </a:lnSpc>
              <a:buNone/>
            </a:pPr>
            <a:r>
              <a:rPr lang="en-US" sz="4000" kern="0" spc="-48" dirty="0">
                <a:solidFill>
                  <a:srgbClr val="0E0E0E"/>
                </a:solidFill>
                <a:latin typeface="Literata SemiBold" pitchFamily="34" charset="0"/>
                <a:ea typeface="Literata SemiBold" pitchFamily="34" charset="-122"/>
                <a:cs typeface="Literata SemiBold" pitchFamily="34" charset="-120"/>
              </a:rPr>
              <a:t>The summary brings the chapter together</a:t>
            </a:r>
            <a:endParaRPr lang="en-US" sz="4000" dirty="0"/>
          </a:p>
        </p:txBody>
      </p:sp>
      <p:sp>
        <p:nvSpPr>
          <p:cNvPr id="4" name="Text 2"/>
          <p:cNvSpPr/>
          <p:nvPr/>
        </p:nvSpPr>
        <p:spPr>
          <a:xfrm>
            <a:off x="761981" y="2510631"/>
            <a:ext cx="7238819" cy="675481"/>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Close by connecting the ideas and evidence that lead to the research gap.</a:t>
            </a:r>
            <a:endParaRPr lang="en-US" sz="1900" dirty="0"/>
          </a:p>
        </p:txBody>
      </p:sp>
      <p:sp>
        <p:nvSpPr>
          <p:cNvPr id="5" name="Shape 3"/>
          <p:cNvSpPr/>
          <p:nvPr/>
        </p:nvSpPr>
        <p:spPr>
          <a:xfrm>
            <a:off x="761981" y="3300611"/>
            <a:ext cx="3251119" cy="38100"/>
          </a:xfrm>
          <a:prstGeom prst="rect">
            <a:avLst/>
          </a:prstGeom>
          <a:solidFill>
            <a:srgbClr val="2B4A6F"/>
          </a:solidFill>
          <a:ln/>
        </p:spPr>
      </p:sp>
      <p:sp>
        <p:nvSpPr>
          <p:cNvPr id="6" name="Text 4"/>
          <p:cNvSpPr/>
          <p:nvPr/>
        </p:nvSpPr>
        <p:spPr>
          <a:xfrm>
            <a:off x="761981" y="3567311"/>
            <a:ext cx="3251119" cy="396180"/>
          </a:xfrm>
          <a:prstGeom prst="rect">
            <a:avLst/>
          </a:prstGeom>
          <a:noFill/>
          <a:ln/>
        </p:spPr>
        <p:txBody>
          <a:bodyPr wrap="none" lIns="0" tIns="0" rIns="0" bIns="0" rtlCol="0" anchor="t"/>
          <a:lstStyle/>
          <a:p>
            <a:pPr marL="0" indent="0" algn="l">
              <a:lnSpc>
                <a:spcPct val="108000"/>
              </a:lnSpc>
              <a:buNone/>
            </a:pPr>
            <a:r>
              <a:rPr lang="en-US" sz="2400" dirty="0">
                <a:solidFill>
                  <a:srgbClr val="0E0E0E"/>
                </a:solidFill>
                <a:latin typeface="Noto Sans" pitchFamily="34" charset="0"/>
                <a:ea typeface="Noto Sans" pitchFamily="34" charset="-122"/>
                <a:cs typeface="Noto Sans" pitchFamily="34" charset="-120"/>
              </a:rPr>
              <a:t>Main ideas</a:t>
            </a:r>
            <a:endParaRPr lang="en-US" sz="2400" dirty="0"/>
          </a:p>
        </p:txBody>
      </p:sp>
      <p:sp>
        <p:nvSpPr>
          <p:cNvPr id="7" name="Text 5"/>
          <p:cNvSpPr/>
          <p:nvPr/>
        </p:nvSpPr>
        <p:spPr>
          <a:xfrm>
            <a:off x="761981" y="4134941"/>
            <a:ext cx="3251119" cy="1013222"/>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Recall the theories and concepts that frame the topic.</a:t>
            </a:r>
            <a:endParaRPr lang="en-US" sz="1900" dirty="0"/>
          </a:p>
        </p:txBody>
      </p:sp>
      <p:sp>
        <p:nvSpPr>
          <p:cNvPr id="8" name="Shape 6"/>
          <p:cNvSpPr/>
          <p:nvPr/>
        </p:nvSpPr>
        <p:spPr>
          <a:xfrm>
            <a:off x="4470288" y="3300611"/>
            <a:ext cx="3251119" cy="38100"/>
          </a:xfrm>
          <a:prstGeom prst="rect">
            <a:avLst/>
          </a:prstGeom>
          <a:solidFill>
            <a:srgbClr val="2B4A6F"/>
          </a:solidFill>
          <a:ln/>
        </p:spPr>
      </p:sp>
      <p:sp>
        <p:nvSpPr>
          <p:cNvPr id="9" name="Text 7"/>
          <p:cNvSpPr/>
          <p:nvPr/>
        </p:nvSpPr>
        <p:spPr>
          <a:xfrm>
            <a:off x="4470288" y="3567311"/>
            <a:ext cx="3251119" cy="396180"/>
          </a:xfrm>
          <a:prstGeom prst="rect">
            <a:avLst/>
          </a:prstGeom>
          <a:noFill/>
          <a:ln/>
        </p:spPr>
        <p:txBody>
          <a:bodyPr wrap="none" lIns="0" tIns="0" rIns="0" bIns="0" rtlCol="0" anchor="t"/>
          <a:lstStyle/>
          <a:p>
            <a:pPr marL="0" indent="0" algn="l">
              <a:lnSpc>
                <a:spcPct val="108000"/>
              </a:lnSpc>
              <a:buNone/>
            </a:pPr>
            <a:r>
              <a:rPr lang="en-US" sz="2400" dirty="0">
                <a:solidFill>
                  <a:srgbClr val="0E0E0E"/>
                </a:solidFill>
                <a:latin typeface="Noto Sans" pitchFamily="34" charset="0"/>
                <a:ea typeface="Noto Sans" pitchFamily="34" charset="-122"/>
                <a:cs typeface="Noto Sans" pitchFamily="34" charset="-120"/>
              </a:rPr>
              <a:t>Earlier research</a:t>
            </a:r>
            <a:endParaRPr lang="en-US" sz="2400" dirty="0"/>
          </a:p>
        </p:txBody>
      </p:sp>
      <p:sp>
        <p:nvSpPr>
          <p:cNvPr id="10" name="Text 8"/>
          <p:cNvSpPr/>
          <p:nvPr/>
        </p:nvSpPr>
        <p:spPr>
          <a:xfrm>
            <a:off x="4470288" y="4134941"/>
            <a:ext cx="3251119" cy="1013222"/>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Bring together the important studies and their findings.</a:t>
            </a:r>
            <a:endParaRPr lang="en-US" sz="1900" dirty="0"/>
          </a:p>
        </p:txBody>
      </p:sp>
      <p:sp>
        <p:nvSpPr>
          <p:cNvPr id="11" name="Shape 9"/>
          <p:cNvSpPr/>
          <p:nvPr/>
        </p:nvSpPr>
        <p:spPr>
          <a:xfrm>
            <a:off x="8178595" y="3300611"/>
            <a:ext cx="3251119" cy="38100"/>
          </a:xfrm>
          <a:prstGeom prst="rect">
            <a:avLst/>
          </a:prstGeom>
          <a:solidFill>
            <a:srgbClr val="2B4A6F"/>
          </a:solidFill>
          <a:ln/>
        </p:spPr>
      </p:sp>
      <p:sp>
        <p:nvSpPr>
          <p:cNvPr id="12" name="Text 10"/>
          <p:cNvSpPr/>
          <p:nvPr/>
        </p:nvSpPr>
        <p:spPr>
          <a:xfrm>
            <a:off x="8178595" y="3567311"/>
            <a:ext cx="3251119" cy="396180"/>
          </a:xfrm>
          <a:prstGeom prst="rect">
            <a:avLst/>
          </a:prstGeom>
          <a:noFill/>
          <a:ln/>
        </p:spPr>
        <p:txBody>
          <a:bodyPr wrap="none" lIns="0" tIns="0" rIns="0" bIns="0" rtlCol="0" anchor="t"/>
          <a:lstStyle/>
          <a:p>
            <a:pPr marL="0" indent="0" algn="l">
              <a:lnSpc>
                <a:spcPct val="108000"/>
              </a:lnSpc>
              <a:buNone/>
            </a:pPr>
            <a:r>
              <a:rPr lang="en-US" sz="2400" dirty="0">
                <a:solidFill>
                  <a:srgbClr val="0E0E0E"/>
                </a:solidFill>
                <a:latin typeface="Noto Sans" pitchFamily="34" charset="0"/>
                <a:ea typeface="Noto Sans" pitchFamily="34" charset="-122"/>
                <a:cs typeface="Noto Sans" pitchFamily="34" charset="-120"/>
              </a:rPr>
              <a:t>Limits and gap</a:t>
            </a:r>
            <a:endParaRPr lang="en-US" sz="2400" dirty="0"/>
          </a:p>
        </p:txBody>
      </p:sp>
      <p:sp>
        <p:nvSpPr>
          <p:cNvPr id="13" name="Text 11"/>
          <p:cNvSpPr/>
          <p:nvPr/>
        </p:nvSpPr>
        <p:spPr>
          <a:xfrm>
            <a:off x="8178595" y="4134941"/>
            <a:ext cx="3251119" cy="1013222"/>
          </a:xfrm>
          <a:prstGeom prst="rect">
            <a:avLst/>
          </a:prstGeom>
          <a:noFill/>
          <a:ln/>
        </p:spPr>
        <p:txBody>
          <a:bodyPr wrap="square" lIns="0" tIns="0" rIns="0" bIns="0" rtlCol="0" anchor="t">
            <a:normAutofit/>
          </a:bodyPr>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Show what earlier studies could not answer and what remains open.</a:t>
            </a:r>
            <a:endParaRPr lang="en-US" sz="1900" dirty="0"/>
          </a:p>
        </p:txBody>
      </p:sp>
      <p:sp>
        <p:nvSpPr>
          <p:cNvPr id="14" name="Text 12"/>
          <p:cNvSpPr/>
          <p:nvPr/>
        </p:nvSpPr>
        <p:spPr>
          <a:xfrm>
            <a:off x="1123922" y="5567462"/>
            <a:ext cx="10915377" cy="337741"/>
          </a:xfrm>
          <a:prstGeom prst="rect">
            <a:avLst/>
          </a:prstGeom>
          <a:noFill/>
          <a:ln/>
        </p:spPr>
        <p:txBody>
          <a:bodyPr wrap="none" lIns="0" tIns="0" rIns="0" bIns="0" rtlCol="0" anchor="t"/>
          <a:lstStyle/>
          <a:p>
            <a:pPr marL="0" indent="0" algn="l">
              <a:lnSpc>
                <a:spcPct val="117000"/>
              </a:lnSpc>
              <a:buNone/>
            </a:pPr>
            <a:r>
              <a:rPr lang="en-US" sz="1900" dirty="0">
                <a:solidFill>
                  <a:srgbClr val="141414"/>
                </a:solidFill>
                <a:latin typeface="Noto Sans" pitchFamily="34" charset="0"/>
                <a:ea typeface="Noto Sans" pitchFamily="34" charset="-122"/>
                <a:cs typeface="Noto Sans" pitchFamily="34" charset="-120"/>
              </a:rPr>
              <a:t>A clear review connects what we know with what we still need to learn.</a:t>
            </a:r>
            <a:endParaRPr lang="en-US" sz="1900" dirty="0"/>
          </a:p>
        </p:txBody>
      </p:sp>
      <p:sp>
        <p:nvSpPr>
          <p:cNvPr id="15" name="Shape 13"/>
          <p:cNvSpPr/>
          <p:nvPr/>
        </p:nvSpPr>
        <p:spPr>
          <a:xfrm>
            <a:off x="761981" y="5491262"/>
            <a:ext cx="28574" cy="490141"/>
          </a:xfrm>
          <a:prstGeom prst="roundRect">
            <a:avLst>
              <a:gd name="adj" fmla="val 50000"/>
            </a:avLst>
          </a:prstGeom>
          <a:solidFill>
            <a:srgbClr val="2B4A6F"/>
          </a:solidFill>
          <a:ln/>
        </p:spPr>
      </p:sp>
      <p:pic>
        <p:nvPicPr>
          <p:cNvPr id="17" name="Picture 16">
            <a:extLst>
              <a:ext uri="{FF2B5EF4-FFF2-40B4-BE49-F238E27FC236}">
                <a16:creationId xmlns:a16="http://schemas.microsoft.com/office/drawing/2014/main" id="{66BF8789-A8BC-B315-B991-881801DF5AE4}"/>
              </a:ext>
            </a:extLst>
          </p:cNvPr>
          <p:cNvPicPr>
            <a:picLocks noChangeAspect="1"/>
          </p:cNvPicPr>
          <p:nvPr/>
        </p:nvPicPr>
        <p:blipFill>
          <a:blip r:embed="rId3"/>
          <a:stretch>
            <a:fillRect/>
          </a:stretch>
        </p:blipFill>
        <p:spPr>
          <a:xfrm>
            <a:off x="8829206" y="5771998"/>
            <a:ext cx="3362794" cy="108600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1069</Words>
  <Application>Microsoft Office PowerPoint</Application>
  <PresentationFormat>Widescreen</PresentationFormat>
  <Paragraphs>143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Noto Sans SemiBold</vt:lpstr>
      <vt:lpstr>Noto Sans</vt:lpstr>
      <vt:lpstr>Noto Sans Medium</vt:lpstr>
      <vt:lpstr>Literata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Mon.Ayub</cp:lastModifiedBy>
  <cp:revision>5</cp:revision>
  <dcterms:created xsi:type="dcterms:W3CDTF">2026-09-28T18:39:41Z</dcterms:created>
  <dcterms:modified xsi:type="dcterms:W3CDTF">2026-09-28T18:43:41Z</dcterms:modified>
</cp:coreProperties>
</file>